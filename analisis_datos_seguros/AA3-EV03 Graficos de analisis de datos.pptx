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6" r:id="rId8"/>
    <p:sldId id="262" r:id="rId9"/>
    <p:sldId id="263" r:id="rId10"/>
    <p:sldId id="264" r:id="rId11"/>
    <p:sldId id="265"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1" d="100"/>
          <a:sy n="151" d="100"/>
        </p:scale>
        <p:origin x="474"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847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2D737-A678-0B4B-741F-F9DF96CCAC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B78D3A-511D-F1C5-4A5F-41CD6B39448D}"/>
              </a:ext>
            </a:extLst>
          </p:cNvPr>
          <p:cNvSpPr>
            <a:spLocks noGrp="1" noRot="1" noChangeAspect="1"/>
          </p:cNvSpPr>
          <p:nvPr>
            <p:ph type="sldImg"/>
          </p:nvPr>
        </p:nvSpPr>
        <p:spPr/>
        <p:txBody>
          <a:bodyPr/>
          <a:lstStyle/>
          <a:p>
            <a:endParaRPr lang="es-CO"/>
          </a:p>
        </p:txBody>
      </p:sp>
      <p:sp>
        <p:nvSpPr>
          <p:cNvPr id="3" name="Notes Placeholder 2">
            <a:extLst>
              <a:ext uri="{FF2B5EF4-FFF2-40B4-BE49-F238E27FC236}">
                <a16:creationId xmlns:a16="http://schemas.microsoft.com/office/drawing/2014/main" id="{28320799-DC9F-4B40-F55E-FEF5138D61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95AC86-3934-0B86-4F6F-18EC922006A5}"/>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333081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1E3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txBody>
          <a:bodyPr/>
          <a:lstStyle/>
          <a:p>
            <a:endParaRPr lang="es-CO"/>
          </a:p>
        </p:txBody>
      </p:sp>
      <p:sp>
        <p:nvSpPr>
          <p:cNvPr id="3" name="Text 1"/>
          <p:cNvSpPr/>
          <p:nvPr/>
        </p:nvSpPr>
        <p:spPr>
          <a:xfrm>
            <a:off x="457200" y="274320"/>
            <a:ext cx="8229600" cy="320040"/>
          </a:xfrm>
          <a:prstGeom prst="rect">
            <a:avLst/>
          </a:prstGeom>
          <a:noFill/>
          <a:ln/>
        </p:spPr>
        <p:txBody>
          <a:bodyPr wrap="square" rtlCol="0" anchor="ctr"/>
          <a:lstStyle/>
          <a:p>
            <a:pPr marL="0" indent="0" algn="ctr">
              <a:buNone/>
            </a:pPr>
            <a:r>
              <a:rPr lang="en-US" sz="1000" b="1" kern="0" spc="300" dirty="0">
                <a:solidFill>
                  <a:srgbClr val="02C39A"/>
                </a:solidFill>
              </a:rPr>
              <a:t>ANALISIS EXPLORATORIO DE DATOS CON PYTHON</a:t>
            </a:r>
            <a:endParaRPr lang="en-US" sz="1000" dirty="0"/>
          </a:p>
        </p:txBody>
      </p:sp>
      <p:sp>
        <p:nvSpPr>
          <p:cNvPr id="4" name="Text 2"/>
          <p:cNvSpPr/>
          <p:nvPr/>
        </p:nvSpPr>
        <p:spPr>
          <a:xfrm>
            <a:off x="731520" y="914400"/>
            <a:ext cx="7680960" cy="1645920"/>
          </a:xfrm>
          <a:prstGeom prst="rect">
            <a:avLst/>
          </a:prstGeom>
          <a:noFill/>
          <a:ln/>
        </p:spPr>
        <p:txBody>
          <a:bodyPr wrap="square" rtlCol="0" anchor="ctr"/>
          <a:lstStyle/>
          <a:p>
            <a:pPr marL="0" indent="0" algn="ctr">
              <a:buNone/>
            </a:pPr>
            <a:r>
              <a:rPr lang="en-US" sz="3600" b="1" dirty="0">
                <a:solidFill>
                  <a:srgbClr val="FFFFFF"/>
                </a:solidFill>
              </a:rPr>
              <a:t>Tipos de Gráficos y su Función</a:t>
            </a:r>
            <a:endParaRPr lang="en-US" sz="3600" dirty="0"/>
          </a:p>
          <a:p>
            <a:pPr marL="0" indent="0" algn="ctr">
              <a:buNone/>
            </a:pPr>
            <a:r>
              <a:rPr lang="en-US" sz="3600" b="1" dirty="0">
                <a:solidFill>
                  <a:srgbClr val="FFFFFF"/>
                </a:solidFill>
              </a:rPr>
              <a:t>en el Análisis de Datos</a:t>
            </a:r>
            <a:endParaRPr lang="en-US" sz="3600" dirty="0"/>
          </a:p>
        </p:txBody>
      </p:sp>
      <p:sp>
        <p:nvSpPr>
          <p:cNvPr id="5" name="Text 3"/>
          <p:cNvSpPr/>
          <p:nvPr/>
        </p:nvSpPr>
        <p:spPr>
          <a:xfrm>
            <a:off x="457200" y="2606040"/>
            <a:ext cx="8229600" cy="365760"/>
          </a:xfrm>
          <a:prstGeom prst="rect">
            <a:avLst/>
          </a:prstGeom>
          <a:noFill/>
          <a:ln/>
        </p:spPr>
        <p:txBody>
          <a:bodyPr wrap="square" rtlCol="0" anchor="ctr"/>
          <a:lstStyle/>
          <a:p>
            <a:pPr marL="0" indent="0" algn="ctr">
              <a:buNone/>
            </a:pPr>
            <a:r>
              <a:rPr lang="en-US" sz="1600" i="1" dirty="0">
                <a:solidFill>
                  <a:srgbClr val="02C39A"/>
                </a:solidFill>
              </a:rPr>
              <a:t>Evidencia AA3-EV03</a:t>
            </a:r>
            <a:endParaRPr lang="en-US" sz="1600" dirty="0"/>
          </a:p>
        </p:txBody>
      </p:sp>
      <p:sp>
        <p:nvSpPr>
          <p:cNvPr id="6" name="Shape 4"/>
          <p:cNvSpPr/>
          <p:nvPr/>
        </p:nvSpPr>
        <p:spPr>
          <a:xfrm>
            <a:off x="3200400" y="3063240"/>
            <a:ext cx="2743200" cy="45720"/>
          </a:xfrm>
          <a:prstGeom prst="rect">
            <a:avLst/>
          </a:prstGeom>
          <a:solidFill>
            <a:srgbClr val="028090"/>
          </a:solidFill>
          <a:ln w="12700">
            <a:solidFill>
              <a:srgbClr val="028090"/>
            </a:solidFill>
            <a:prstDash val="solid"/>
          </a:ln>
        </p:spPr>
        <p:txBody>
          <a:bodyPr/>
          <a:lstStyle/>
          <a:p>
            <a:endParaRPr lang="es-CO"/>
          </a:p>
        </p:txBody>
      </p:sp>
      <p:sp>
        <p:nvSpPr>
          <p:cNvPr id="7" name="Text 5"/>
          <p:cNvSpPr/>
          <p:nvPr/>
        </p:nvSpPr>
        <p:spPr>
          <a:xfrm>
            <a:off x="1371600" y="3246120"/>
            <a:ext cx="6400800" cy="1645920"/>
          </a:xfrm>
          <a:prstGeom prst="rect">
            <a:avLst/>
          </a:prstGeom>
          <a:noFill/>
          <a:ln/>
        </p:spPr>
        <p:txBody>
          <a:bodyPr wrap="square" rtlCol="0" anchor="ctr"/>
          <a:lstStyle/>
          <a:p>
            <a:pPr marL="0" indent="0" algn="ctr">
              <a:buNone/>
            </a:pPr>
            <a:r>
              <a:rPr lang="en-US" sz="1300" dirty="0">
                <a:solidFill>
                  <a:srgbClr val="FFFFFF"/>
                </a:solidFill>
              </a:rPr>
              <a:t>Nombre: Juan Pablo López Rodríguez</a:t>
            </a:r>
          </a:p>
          <a:p>
            <a:pPr marL="0" indent="0" algn="ctr">
              <a:buNone/>
            </a:pPr>
            <a:r>
              <a:rPr lang="en-US" sz="1300" dirty="0" err="1">
                <a:solidFill>
                  <a:srgbClr val="B0C4D8"/>
                </a:solidFill>
              </a:rPr>
              <a:t>Fecha</a:t>
            </a:r>
            <a:r>
              <a:rPr lang="en-US" sz="1300" dirty="0">
                <a:solidFill>
                  <a:srgbClr val="B0C4D8"/>
                </a:solidFill>
              </a:rPr>
              <a:t>: Mayo 2026</a:t>
            </a:r>
            <a:endParaRPr lang="en-US" sz="1300" dirty="0"/>
          </a:p>
        </p:txBody>
      </p:sp>
      <p:sp>
        <p:nvSpPr>
          <p:cNvPr id="8" name="Shape 6"/>
          <p:cNvSpPr/>
          <p:nvPr/>
        </p:nvSpPr>
        <p:spPr>
          <a:xfrm>
            <a:off x="0" y="5052060"/>
            <a:ext cx="9144000" cy="91440"/>
          </a:xfrm>
          <a:prstGeom prst="rect">
            <a:avLst/>
          </a:prstGeom>
          <a:solidFill>
            <a:srgbClr val="028090"/>
          </a:solidFill>
          <a:ln w="12700">
            <a:solidFill>
              <a:srgbClr val="028090"/>
            </a:solidFill>
            <a:prstDash val="solid"/>
          </a:ln>
        </p:spPr>
        <p:txBody>
          <a:bodyPr/>
          <a:lstStyle/>
          <a:p>
            <a:endParaRPr lang="es-CO"/>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1E3F"/>
          </a:solidFill>
          <a:ln w="12700">
            <a:solidFill>
              <a:srgbClr val="021E3F"/>
            </a:solidFill>
            <a:prstDash val="solid"/>
          </a:ln>
        </p:spPr>
        <p:txBody>
          <a:bodyPr/>
          <a:lstStyle/>
          <a:p>
            <a:endParaRPr lang="es-CO"/>
          </a:p>
        </p:txBody>
      </p:sp>
      <p:sp>
        <p:nvSpPr>
          <p:cNvPr id="3" name="Text 1"/>
          <p:cNvSpPr/>
          <p:nvPr/>
        </p:nvSpPr>
        <p:spPr>
          <a:xfrm>
            <a:off x="457200" y="182880"/>
            <a:ext cx="8229600" cy="502920"/>
          </a:xfrm>
          <a:prstGeom prst="rect">
            <a:avLst/>
          </a:prstGeom>
          <a:noFill/>
          <a:ln/>
        </p:spPr>
        <p:txBody>
          <a:bodyPr wrap="square" rtlCol="0" anchor="ctr"/>
          <a:lstStyle/>
          <a:p>
            <a:pPr marL="0" indent="0">
              <a:buNone/>
            </a:pPr>
            <a:r>
              <a:rPr lang="en-US" sz="2800" b="1" dirty="0">
                <a:solidFill>
                  <a:srgbClr val="021E3F"/>
                </a:solidFill>
              </a:rPr>
              <a:t>Contexto del Análisis</a:t>
            </a:r>
            <a:endParaRPr lang="en-US" sz="2800" dirty="0"/>
          </a:p>
        </p:txBody>
      </p:sp>
      <p:sp>
        <p:nvSpPr>
          <p:cNvPr id="4" name="Shape 2"/>
          <p:cNvSpPr/>
          <p:nvPr/>
        </p:nvSpPr>
        <p:spPr>
          <a:xfrm>
            <a:off x="365760" y="868680"/>
            <a:ext cx="3840480" cy="3108960"/>
          </a:xfrm>
          <a:prstGeom prst="rect">
            <a:avLst/>
          </a:prstGeom>
          <a:solidFill>
            <a:srgbClr val="FFFFFF"/>
          </a:solidFill>
          <a:ln w="12700">
            <a:solidFill>
              <a:srgbClr val="E2EAF0"/>
            </a:solidFill>
            <a:prstDash val="solid"/>
          </a:ln>
        </p:spPr>
        <p:txBody>
          <a:bodyPr/>
          <a:lstStyle/>
          <a:p>
            <a:endParaRPr lang="es-CO"/>
          </a:p>
        </p:txBody>
      </p:sp>
      <p:sp>
        <p:nvSpPr>
          <p:cNvPr id="5" name="Shape 3"/>
          <p:cNvSpPr/>
          <p:nvPr/>
        </p:nvSpPr>
        <p:spPr>
          <a:xfrm>
            <a:off x="365760" y="868680"/>
            <a:ext cx="3840480" cy="384048"/>
          </a:xfrm>
          <a:prstGeom prst="rect">
            <a:avLst/>
          </a:prstGeom>
          <a:solidFill>
            <a:srgbClr val="021E3F"/>
          </a:solidFill>
          <a:ln w="12700">
            <a:solidFill>
              <a:srgbClr val="021E3F"/>
            </a:solidFill>
            <a:prstDash val="solid"/>
          </a:ln>
        </p:spPr>
        <p:txBody>
          <a:bodyPr/>
          <a:lstStyle/>
          <a:p>
            <a:endParaRPr lang="es-CO"/>
          </a:p>
        </p:txBody>
      </p:sp>
      <p:sp>
        <p:nvSpPr>
          <p:cNvPr id="6" name="Text 4"/>
          <p:cNvSpPr/>
          <p:nvPr/>
        </p:nvSpPr>
        <p:spPr>
          <a:xfrm>
            <a:off x="457200" y="886968"/>
            <a:ext cx="3657600" cy="347472"/>
          </a:xfrm>
          <a:prstGeom prst="rect">
            <a:avLst/>
          </a:prstGeom>
          <a:noFill/>
          <a:ln/>
        </p:spPr>
        <p:txBody>
          <a:bodyPr wrap="square" rtlCol="0" anchor="ctr"/>
          <a:lstStyle/>
          <a:p>
            <a:pPr marL="0" indent="0">
              <a:buNone/>
            </a:pPr>
            <a:r>
              <a:rPr lang="en-US" sz="1200" b="1" dirty="0">
                <a:solidFill>
                  <a:srgbClr val="FFFFFF"/>
                </a:solidFill>
              </a:rPr>
              <a:t>Dataset: DatosSeguros.csv</a:t>
            </a:r>
            <a:endParaRPr lang="en-US" sz="1200" dirty="0"/>
          </a:p>
        </p:txBody>
      </p:sp>
      <p:sp>
        <p:nvSpPr>
          <p:cNvPr id="7" name="Text 5"/>
          <p:cNvSpPr/>
          <p:nvPr/>
        </p:nvSpPr>
        <p:spPr>
          <a:xfrm>
            <a:off x="548640" y="1353312"/>
            <a:ext cx="1280160" cy="292608"/>
          </a:xfrm>
          <a:prstGeom prst="rect">
            <a:avLst/>
          </a:prstGeom>
          <a:noFill/>
          <a:ln/>
        </p:spPr>
        <p:txBody>
          <a:bodyPr wrap="square" rtlCol="0" anchor="ctr"/>
          <a:lstStyle/>
          <a:p>
            <a:pPr marL="0" indent="0">
              <a:buNone/>
            </a:pPr>
            <a:r>
              <a:rPr lang="en-US" sz="1100" b="1" dirty="0">
                <a:solidFill>
                  <a:srgbClr val="028090"/>
                </a:solidFill>
              </a:rPr>
              <a:t>edad</a:t>
            </a:r>
            <a:endParaRPr lang="en-US" sz="1100" dirty="0"/>
          </a:p>
        </p:txBody>
      </p:sp>
      <p:sp>
        <p:nvSpPr>
          <p:cNvPr id="8" name="Text 6"/>
          <p:cNvSpPr/>
          <p:nvPr/>
        </p:nvSpPr>
        <p:spPr>
          <a:xfrm>
            <a:off x="1920240" y="1353312"/>
            <a:ext cx="2194560" cy="292608"/>
          </a:xfrm>
          <a:prstGeom prst="rect">
            <a:avLst/>
          </a:prstGeom>
          <a:noFill/>
          <a:ln/>
        </p:spPr>
        <p:txBody>
          <a:bodyPr wrap="square" rtlCol="0" anchor="ctr"/>
          <a:lstStyle/>
          <a:p>
            <a:pPr marL="0" indent="0">
              <a:buNone/>
            </a:pPr>
            <a:r>
              <a:rPr lang="en-US" sz="1100" dirty="0">
                <a:solidFill>
                  <a:srgbClr val="64748B"/>
                </a:solidFill>
              </a:rPr>
              <a:t>Numérica — años del cliente</a:t>
            </a:r>
            <a:endParaRPr lang="en-US" sz="1100" dirty="0"/>
          </a:p>
        </p:txBody>
      </p:sp>
      <p:sp>
        <p:nvSpPr>
          <p:cNvPr id="9" name="Text 7"/>
          <p:cNvSpPr/>
          <p:nvPr/>
        </p:nvSpPr>
        <p:spPr>
          <a:xfrm>
            <a:off x="548640" y="1700784"/>
            <a:ext cx="1280160" cy="292608"/>
          </a:xfrm>
          <a:prstGeom prst="rect">
            <a:avLst/>
          </a:prstGeom>
          <a:noFill/>
          <a:ln/>
        </p:spPr>
        <p:txBody>
          <a:bodyPr wrap="square" rtlCol="0" anchor="ctr"/>
          <a:lstStyle/>
          <a:p>
            <a:pPr marL="0" indent="0">
              <a:buNone/>
            </a:pPr>
            <a:r>
              <a:rPr lang="en-US" sz="1100" b="1" dirty="0">
                <a:solidFill>
                  <a:srgbClr val="028090"/>
                </a:solidFill>
              </a:rPr>
              <a:t>sexo</a:t>
            </a:r>
            <a:endParaRPr lang="en-US" sz="1100" dirty="0"/>
          </a:p>
        </p:txBody>
      </p:sp>
      <p:sp>
        <p:nvSpPr>
          <p:cNvPr id="10" name="Text 8"/>
          <p:cNvSpPr/>
          <p:nvPr/>
        </p:nvSpPr>
        <p:spPr>
          <a:xfrm>
            <a:off x="1920240" y="1700784"/>
            <a:ext cx="2194560" cy="292608"/>
          </a:xfrm>
          <a:prstGeom prst="rect">
            <a:avLst/>
          </a:prstGeom>
          <a:noFill/>
          <a:ln/>
        </p:spPr>
        <p:txBody>
          <a:bodyPr wrap="square" rtlCol="0" anchor="ctr"/>
          <a:lstStyle/>
          <a:p>
            <a:pPr marL="0" indent="0">
              <a:buNone/>
            </a:pPr>
            <a:r>
              <a:rPr lang="en-US" sz="1100" dirty="0">
                <a:solidFill>
                  <a:srgbClr val="64748B"/>
                </a:solidFill>
              </a:rPr>
              <a:t>Categórica — M / F</a:t>
            </a:r>
            <a:endParaRPr lang="en-US" sz="1100" dirty="0"/>
          </a:p>
        </p:txBody>
      </p:sp>
      <p:sp>
        <p:nvSpPr>
          <p:cNvPr id="11" name="Text 9"/>
          <p:cNvSpPr/>
          <p:nvPr/>
        </p:nvSpPr>
        <p:spPr>
          <a:xfrm>
            <a:off x="548640" y="2048256"/>
            <a:ext cx="1280160" cy="292608"/>
          </a:xfrm>
          <a:prstGeom prst="rect">
            <a:avLst/>
          </a:prstGeom>
          <a:noFill/>
          <a:ln/>
        </p:spPr>
        <p:txBody>
          <a:bodyPr wrap="square" rtlCol="0" anchor="ctr"/>
          <a:lstStyle/>
          <a:p>
            <a:pPr marL="0" indent="0">
              <a:buNone/>
            </a:pPr>
            <a:r>
              <a:rPr lang="en-US" sz="1100" b="1" dirty="0">
                <a:solidFill>
                  <a:srgbClr val="028090"/>
                </a:solidFill>
              </a:rPr>
              <a:t>imc</a:t>
            </a:r>
            <a:endParaRPr lang="en-US" sz="1100" dirty="0"/>
          </a:p>
        </p:txBody>
      </p:sp>
      <p:sp>
        <p:nvSpPr>
          <p:cNvPr id="12" name="Text 10"/>
          <p:cNvSpPr/>
          <p:nvPr/>
        </p:nvSpPr>
        <p:spPr>
          <a:xfrm>
            <a:off x="1920240" y="2048256"/>
            <a:ext cx="2194560" cy="292608"/>
          </a:xfrm>
          <a:prstGeom prst="rect">
            <a:avLst/>
          </a:prstGeom>
          <a:noFill/>
          <a:ln/>
        </p:spPr>
        <p:txBody>
          <a:bodyPr wrap="square" rtlCol="0" anchor="ctr"/>
          <a:lstStyle/>
          <a:p>
            <a:pPr marL="0" indent="0">
              <a:buNone/>
            </a:pPr>
            <a:r>
              <a:rPr lang="en-US" sz="1100" dirty="0">
                <a:solidFill>
                  <a:srgbClr val="64748B"/>
                </a:solidFill>
              </a:rPr>
              <a:t>Numérica — índice de masa corporal</a:t>
            </a:r>
            <a:endParaRPr lang="en-US" sz="1100" dirty="0"/>
          </a:p>
        </p:txBody>
      </p:sp>
      <p:sp>
        <p:nvSpPr>
          <p:cNvPr id="13" name="Text 11"/>
          <p:cNvSpPr/>
          <p:nvPr/>
        </p:nvSpPr>
        <p:spPr>
          <a:xfrm>
            <a:off x="548640" y="2395728"/>
            <a:ext cx="1280160" cy="292608"/>
          </a:xfrm>
          <a:prstGeom prst="rect">
            <a:avLst/>
          </a:prstGeom>
          <a:noFill/>
          <a:ln/>
        </p:spPr>
        <p:txBody>
          <a:bodyPr wrap="square" rtlCol="0" anchor="ctr"/>
          <a:lstStyle/>
          <a:p>
            <a:pPr marL="0" indent="0">
              <a:buNone/>
            </a:pPr>
            <a:r>
              <a:rPr lang="en-US" sz="1100" b="1" dirty="0">
                <a:solidFill>
                  <a:srgbClr val="028090"/>
                </a:solidFill>
              </a:rPr>
              <a:t>hijos</a:t>
            </a:r>
            <a:endParaRPr lang="en-US" sz="1100" dirty="0"/>
          </a:p>
        </p:txBody>
      </p:sp>
      <p:sp>
        <p:nvSpPr>
          <p:cNvPr id="14" name="Text 12"/>
          <p:cNvSpPr/>
          <p:nvPr/>
        </p:nvSpPr>
        <p:spPr>
          <a:xfrm>
            <a:off x="1920240" y="2395728"/>
            <a:ext cx="2194560" cy="292608"/>
          </a:xfrm>
          <a:prstGeom prst="rect">
            <a:avLst/>
          </a:prstGeom>
          <a:noFill/>
          <a:ln/>
        </p:spPr>
        <p:txBody>
          <a:bodyPr wrap="square" rtlCol="0" anchor="ctr"/>
          <a:lstStyle/>
          <a:p>
            <a:pPr marL="0" indent="0">
              <a:buNone/>
            </a:pPr>
            <a:r>
              <a:rPr lang="en-US" sz="1100" dirty="0">
                <a:solidFill>
                  <a:srgbClr val="64748B"/>
                </a:solidFill>
              </a:rPr>
              <a:t>Numérica — número de hijos</a:t>
            </a:r>
            <a:endParaRPr lang="en-US" sz="1100" dirty="0"/>
          </a:p>
        </p:txBody>
      </p:sp>
      <p:sp>
        <p:nvSpPr>
          <p:cNvPr id="15" name="Text 13"/>
          <p:cNvSpPr/>
          <p:nvPr/>
        </p:nvSpPr>
        <p:spPr>
          <a:xfrm>
            <a:off x="548640" y="2743200"/>
            <a:ext cx="1280160" cy="292608"/>
          </a:xfrm>
          <a:prstGeom prst="rect">
            <a:avLst/>
          </a:prstGeom>
          <a:noFill/>
          <a:ln/>
        </p:spPr>
        <p:txBody>
          <a:bodyPr wrap="square" rtlCol="0" anchor="ctr"/>
          <a:lstStyle/>
          <a:p>
            <a:pPr marL="0" indent="0">
              <a:buNone/>
            </a:pPr>
            <a:r>
              <a:rPr lang="en-US" sz="1100" b="1" dirty="0">
                <a:solidFill>
                  <a:srgbClr val="028090"/>
                </a:solidFill>
              </a:rPr>
              <a:t>fumador</a:t>
            </a:r>
            <a:endParaRPr lang="en-US" sz="1100" dirty="0"/>
          </a:p>
        </p:txBody>
      </p:sp>
      <p:sp>
        <p:nvSpPr>
          <p:cNvPr id="16" name="Text 14"/>
          <p:cNvSpPr/>
          <p:nvPr/>
        </p:nvSpPr>
        <p:spPr>
          <a:xfrm>
            <a:off x="1920240" y="2743200"/>
            <a:ext cx="2194560" cy="292608"/>
          </a:xfrm>
          <a:prstGeom prst="rect">
            <a:avLst/>
          </a:prstGeom>
          <a:noFill/>
          <a:ln/>
        </p:spPr>
        <p:txBody>
          <a:bodyPr wrap="square" rtlCol="0" anchor="ctr"/>
          <a:lstStyle/>
          <a:p>
            <a:pPr marL="0" indent="0">
              <a:buNone/>
            </a:pPr>
            <a:r>
              <a:rPr lang="en-US" sz="1100" dirty="0">
                <a:solidFill>
                  <a:srgbClr val="64748B"/>
                </a:solidFill>
              </a:rPr>
              <a:t>Categórica — yes / no</a:t>
            </a:r>
            <a:endParaRPr lang="en-US" sz="1100" dirty="0"/>
          </a:p>
        </p:txBody>
      </p:sp>
      <p:sp>
        <p:nvSpPr>
          <p:cNvPr id="17" name="Text 15"/>
          <p:cNvSpPr/>
          <p:nvPr/>
        </p:nvSpPr>
        <p:spPr>
          <a:xfrm>
            <a:off x="548640" y="3090672"/>
            <a:ext cx="1280160" cy="292608"/>
          </a:xfrm>
          <a:prstGeom prst="rect">
            <a:avLst/>
          </a:prstGeom>
          <a:noFill/>
          <a:ln/>
        </p:spPr>
        <p:txBody>
          <a:bodyPr wrap="square" rtlCol="0" anchor="ctr"/>
          <a:lstStyle/>
          <a:p>
            <a:pPr marL="0" indent="0">
              <a:buNone/>
            </a:pPr>
            <a:r>
              <a:rPr lang="en-US" sz="1100" b="1" dirty="0">
                <a:solidFill>
                  <a:srgbClr val="028090"/>
                </a:solidFill>
              </a:rPr>
              <a:t>region</a:t>
            </a:r>
            <a:endParaRPr lang="en-US" sz="1100" dirty="0"/>
          </a:p>
        </p:txBody>
      </p:sp>
      <p:sp>
        <p:nvSpPr>
          <p:cNvPr id="18" name="Text 16"/>
          <p:cNvSpPr/>
          <p:nvPr/>
        </p:nvSpPr>
        <p:spPr>
          <a:xfrm>
            <a:off x="1920240" y="3090672"/>
            <a:ext cx="2194560" cy="292608"/>
          </a:xfrm>
          <a:prstGeom prst="rect">
            <a:avLst/>
          </a:prstGeom>
          <a:noFill/>
          <a:ln/>
        </p:spPr>
        <p:txBody>
          <a:bodyPr wrap="square" rtlCol="0" anchor="ctr"/>
          <a:lstStyle/>
          <a:p>
            <a:pPr marL="0" indent="0">
              <a:buNone/>
            </a:pPr>
            <a:r>
              <a:rPr lang="en-US" sz="1100" dirty="0">
                <a:solidFill>
                  <a:srgbClr val="64748B"/>
                </a:solidFill>
              </a:rPr>
              <a:t>Categórica — 4 regiones</a:t>
            </a:r>
            <a:endParaRPr lang="en-US" sz="1100" dirty="0"/>
          </a:p>
        </p:txBody>
      </p:sp>
      <p:sp>
        <p:nvSpPr>
          <p:cNvPr id="19" name="Text 17"/>
          <p:cNvSpPr/>
          <p:nvPr/>
        </p:nvSpPr>
        <p:spPr>
          <a:xfrm>
            <a:off x="548640" y="3438144"/>
            <a:ext cx="1280160" cy="292608"/>
          </a:xfrm>
          <a:prstGeom prst="rect">
            <a:avLst/>
          </a:prstGeom>
          <a:noFill/>
          <a:ln/>
        </p:spPr>
        <p:txBody>
          <a:bodyPr wrap="square" rtlCol="0" anchor="ctr"/>
          <a:lstStyle/>
          <a:p>
            <a:pPr marL="0" indent="0">
              <a:buNone/>
            </a:pPr>
            <a:r>
              <a:rPr lang="en-US" sz="1100" b="1" dirty="0">
                <a:solidFill>
                  <a:srgbClr val="028090"/>
                </a:solidFill>
              </a:rPr>
              <a:t>valor_seguro</a:t>
            </a:r>
            <a:endParaRPr lang="en-US" sz="1100" dirty="0"/>
          </a:p>
        </p:txBody>
      </p:sp>
      <p:sp>
        <p:nvSpPr>
          <p:cNvPr id="20" name="Text 18"/>
          <p:cNvSpPr/>
          <p:nvPr/>
        </p:nvSpPr>
        <p:spPr>
          <a:xfrm>
            <a:off x="1920240" y="3438144"/>
            <a:ext cx="2194560" cy="292608"/>
          </a:xfrm>
          <a:prstGeom prst="rect">
            <a:avLst/>
          </a:prstGeom>
          <a:noFill/>
          <a:ln/>
        </p:spPr>
        <p:txBody>
          <a:bodyPr wrap="square" rtlCol="0" anchor="ctr"/>
          <a:lstStyle/>
          <a:p>
            <a:pPr marL="0" indent="0">
              <a:buNone/>
            </a:pPr>
            <a:r>
              <a:rPr lang="en-US" sz="1100" dirty="0">
                <a:solidFill>
                  <a:srgbClr val="64748B"/>
                </a:solidFill>
              </a:rPr>
              <a:t>Numérica — precio de la póliza</a:t>
            </a:r>
            <a:endParaRPr lang="en-US" sz="1100" dirty="0"/>
          </a:p>
        </p:txBody>
      </p:sp>
      <p:sp>
        <p:nvSpPr>
          <p:cNvPr id="21" name="Shape 19"/>
          <p:cNvSpPr/>
          <p:nvPr/>
        </p:nvSpPr>
        <p:spPr>
          <a:xfrm>
            <a:off x="4572000" y="868680"/>
            <a:ext cx="4206240" cy="3108960"/>
          </a:xfrm>
          <a:prstGeom prst="rect">
            <a:avLst/>
          </a:prstGeom>
          <a:solidFill>
            <a:srgbClr val="FFFFFF"/>
          </a:solidFill>
          <a:ln w="12700">
            <a:solidFill>
              <a:srgbClr val="E2EAF0"/>
            </a:solidFill>
            <a:prstDash val="solid"/>
          </a:ln>
        </p:spPr>
        <p:txBody>
          <a:bodyPr/>
          <a:lstStyle/>
          <a:p>
            <a:endParaRPr lang="es-CO"/>
          </a:p>
        </p:txBody>
      </p:sp>
      <p:sp>
        <p:nvSpPr>
          <p:cNvPr id="22" name="Shape 20"/>
          <p:cNvSpPr/>
          <p:nvPr/>
        </p:nvSpPr>
        <p:spPr>
          <a:xfrm>
            <a:off x="4572000" y="868680"/>
            <a:ext cx="4206240" cy="384048"/>
          </a:xfrm>
          <a:prstGeom prst="rect">
            <a:avLst/>
          </a:prstGeom>
          <a:solidFill>
            <a:srgbClr val="028090"/>
          </a:solidFill>
          <a:ln w="12700">
            <a:solidFill>
              <a:srgbClr val="028090"/>
            </a:solidFill>
            <a:prstDash val="solid"/>
          </a:ln>
        </p:spPr>
        <p:txBody>
          <a:bodyPr/>
          <a:lstStyle/>
          <a:p>
            <a:endParaRPr lang="es-CO"/>
          </a:p>
        </p:txBody>
      </p:sp>
      <p:sp>
        <p:nvSpPr>
          <p:cNvPr id="23" name="Text 21"/>
          <p:cNvSpPr/>
          <p:nvPr/>
        </p:nvSpPr>
        <p:spPr>
          <a:xfrm>
            <a:off x="4663440" y="886968"/>
            <a:ext cx="4023360" cy="347472"/>
          </a:xfrm>
          <a:prstGeom prst="rect">
            <a:avLst/>
          </a:prstGeom>
          <a:noFill/>
          <a:ln/>
        </p:spPr>
        <p:txBody>
          <a:bodyPr wrap="square" rtlCol="0" anchor="ctr"/>
          <a:lstStyle/>
          <a:p>
            <a:pPr marL="0" indent="0">
              <a:buNone/>
            </a:pPr>
            <a:r>
              <a:rPr lang="en-US" sz="1200" b="1" dirty="0">
                <a:solidFill>
                  <a:srgbClr val="FFFFFF"/>
                </a:solidFill>
              </a:rPr>
              <a:t>Preguntas de Negocio</a:t>
            </a:r>
            <a:endParaRPr lang="en-US" sz="1200" dirty="0"/>
          </a:p>
        </p:txBody>
      </p:sp>
      <p:sp>
        <p:nvSpPr>
          <p:cNvPr id="24" name="Shape 22"/>
          <p:cNvSpPr/>
          <p:nvPr/>
        </p:nvSpPr>
        <p:spPr>
          <a:xfrm>
            <a:off x="4754880" y="1417320"/>
            <a:ext cx="384048" cy="384048"/>
          </a:xfrm>
          <a:prstGeom prst="ellipse">
            <a:avLst/>
          </a:prstGeom>
          <a:solidFill>
            <a:srgbClr val="02C39A"/>
          </a:solidFill>
          <a:ln w="12700">
            <a:solidFill>
              <a:srgbClr val="02C39A"/>
            </a:solidFill>
            <a:prstDash val="solid"/>
          </a:ln>
        </p:spPr>
        <p:txBody>
          <a:bodyPr/>
          <a:lstStyle/>
          <a:p>
            <a:endParaRPr lang="es-CO"/>
          </a:p>
        </p:txBody>
      </p:sp>
      <p:sp>
        <p:nvSpPr>
          <p:cNvPr id="25" name="Text 23"/>
          <p:cNvSpPr/>
          <p:nvPr/>
        </p:nvSpPr>
        <p:spPr>
          <a:xfrm>
            <a:off x="4754880" y="1417320"/>
            <a:ext cx="384048" cy="384048"/>
          </a:xfrm>
          <a:prstGeom prst="rect">
            <a:avLst/>
          </a:prstGeom>
          <a:noFill/>
          <a:ln/>
        </p:spPr>
        <p:txBody>
          <a:bodyPr wrap="square" rtlCol="0" anchor="ctr"/>
          <a:lstStyle/>
          <a:p>
            <a:pPr marL="0" indent="0" algn="ctr">
              <a:buNone/>
            </a:pPr>
            <a:r>
              <a:rPr lang="en-US" sz="1100" b="1" dirty="0">
                <a:solidFill>
                  <a:srgbClr val="021E3F"/>
                </a:solidFill>
              </a:rPr>
              <a:t>P1</a:t>
            </a:r>
            <a:endParaRPr lang="en-US" sz="1100" dirty="0"/>
          </a:p>
        </p:txBody>
      </p:sp>
      <p:sp>
        <p:nvSpPr>
          <p:cNvPr id="26" name="Text 24"/>
          <p:cNvSpPr/>
          <p:nvPr/>
        </p:nvSpPr>
        <p:spPr>
          <a:xfrm>
            <a:off x="5230368" y="1389888"/>
            <a:ext cx="3383280" cy="438912"/>
          </a:xfrm>
          <a:prstGeom prst="rect">
            <a:avLst/>
          </a:prstGeom>
          <a:noFill/>
          <a:ln/>
        </p:spPr>
        <p:txBody>
          <a:bodyPr wrap="square" rtlCol="0" anchor="ctr"/>
          <a:lstStyle/>
          <a:p>
            <a:pPr marL="0" indent="0">
              <a:buNone/>
            </a:pPr>
            <a:r>
              <a:rPr lang="en-US" sz="1100" dirty="0">
                <a:solidFill>
                  <a:srgbClr val="2D3748"/>
                </a:solidFill>
              </a:rPr>
              <a:t>¿Las personas fumadoras representan el mayor potencial para ventas?</a:t>
            </a:r>
            <a:endParaRPr lang="en-US" sz="1100" dirty="0"/>
          </a:p>
        </p:txBody>
      </p:sp>
      <p:sp>
        <p:nvSpPr>
          <p:cNvPr id="27" name="Shape 25"/>
          <p:cNvSpPr/>
          <p:nvPr/>
        </p:nvSpPr>
        <p:spPr>
          <a:xfrm>
            <a:off x="4754880" y="2286000"/>
            <a:ext cx="384048" cy="384048"/>
          </a:xfrm>
          <a:prstGeom prst="ellipse">
            <a:avLst/>
          </a:prstGeom>
          <a:solidFill>
            <a:srgbClr val="02C39A"/>
          </a:solidFill>
          <a:ln w="12700">
            <a:solidFill>
              <a:srgbClr val="02C39A"/>
            </a:solidFill>
            <a:prstDash val="solid"/>
          </a:ln>
        </p:spPr>
        <p:txBody>
          <a:bodyPr/>
          <a:lstStyle/>
          <a:p>
            <a:endParaRPr lang="es-CO"/>
          </a:p>
        </p:txBody>
      </p:sp>
      <p:sp>
        <p:nvSpPr>
          <p:cNvPr id="28" name="Text 26"/>
          <p:cNvSpPr/>
          <p:nvPr/>
        </p:nvSpPr>
        <p:spPr>
          <a:xfrm>
            <a:off x="4754880" y="2286000"/>
            <a:ext cx="384048" cy="384048"/>
          </a:xfrm>
          <a:prstGeom prst="rect">
            <a:avLst/>
          </a:prstGeom>
          <a:noFill/>
          <a:ln/>
        </p:spPr>
        <p:txBody>
          <a:bodyPr wrap="square" rtlCol="0" anchor="ctr"/>
          <a:lstStyle/>
          <a:p>
            <a:pPr marL="0" indent="0" algn="ctr">
              <a:buNone/>
            </a:pPr>
            <a:r>
              <a:rPr lang="en-US" sz="1100" b="1" dirty="0">
                <a:solidFill>
                  <a:srgbClr val="021E3F"/>
                </a:solidFill>
              </a:rPr>
              <a:t>P2</a:t>
            </a:r>
            <a:endParaRPr lang="en-US" sz="1100" dirty="0"/>
          </a:p>
        </p:txBody>
      </p:sp>
      <p:sp>
        <p:nvSpPr>
          <p:cNvPr id="29" name="Text 27"/>
          <p:cNvSpPr/>
          <p:nvPr/>
        </p:nvSpPr>
        <p:spPr>
          <a:xfrm>
            <a:off x="5230368" y="2258568"/>
            <a:ext cx="3383280" cy="438912"/>
          </a:xfrm>
          <a:prstGeom prst="rect">
            <a:avLst/>
          </a:prstGeom>
          <a:noFill/>
          <a:ln/>
        </p:spPr>
        <p:txBody>
          <a:bodyPr wrap="square" rtlCol="0" anchor="ctr"/>
          <a:lstStyle/>
          <a:p>
            <a:pPr marL="0" indent="0">
              <a:buNone/>
            </a:pPr>
            <a:r>
              <a:rPr lang="en-US" sz="1100" dirty="0">
                <a:solidFill>
                  <a:srgbClr val="2D3748"/>
                </a:solidFill>
              </a:rPr>
              <a:t>¿En qué edad se debe concentrar la estrategia comercial?</a:t>
            </a:r>
            <a:endParaRPr lang="en-US" sz="1100" dirty="0"/>
          </a:p>
        </p:txBody>
      </p:sp>
      <p:sp>
        <p:nvSpPr>
          <p:cNvPr id="30" name="Shape 28"/>
          <p:cNvSpPr/>
          <p:nvPr/>
        </p:nvSpPr>
        <p:spPr>
          <a:xfrm>
            <a:off x="4754880" y="3154680"/>
            <a:ext cx="384048" cy="384048"/>
          </a:xfrm>
          <a:prstGeom prst="ellipse">
            <a:avLst/>
          </a:prstGeom>
          <a:solidFill>
            <a:srgbClr val="02C39A"/>
          </a:solidFill>
          <a:ln w="12700">
            <a:solidFill>
              <a:srgbClr val="02C39A"/>
            </a:solidFill>
            <a:prstDash val="solid"/>
          </a:ln>
        </p:spPr>
        <p:txBody>
          <a:bodyPr/>
          <a:lstStyle/>
          <a:p>
            <a:endParaRPr lang="es-CO"/>
          </a:p>
        </p:txBody>
      </p:sp>
      <p:sp>
        <p:nvSpPr>
          <p:cNvPr id="31" name="Text 29"/>
          <p:cNvSpPr/>
          <p:nvPr/>
        </p:nvSpPr>
        <p:spPr>
          <a:xfrm>
            <a:off x="4754880" y="3154680"/>
            <a:ext cx="384048" cy="384048"/>
          </a:xfrm>
          <a:prstGeom prst="rect">
            <a:avLst/>
          </a:prstGeom>
          <a:noFill/>
          <a:ln/>
        </p:spPr>
        <p:txBody>
          <a:bodyPr wrap="square" rtlCol="0" anchor="ctr"/>
          <a:lstStyle/>
          <a:p>
            <a:pPr marL="0" indent="0" algn="ctr">
              <a:buNone/>
            </a:pPr>
            <a:r>
              <a:rPr lang="en-US" sz="1100" b="1" dirty="0">
                <a:solidFill>
                  <a:srgbClr val="021E3F"/>
                </a:solidFill>
              </a:rPr>
              <a:t>P3</a:t>
            </a:r>
            <a:endParaRPr lang="en-US" sz="1100" dirty="0"/>
          </a:p>
        </p:txBody>
      </p:sp>
      <p:sp>
        <p:nvSpPr>
          <p:cNvPr id="32" name="Text 30"/>
          <p:cNvSpPr/>
          <p:nvPr/>
        </p:nvSpPr>
        <p:spPr>
          <a:xfrm>
            <a:off x="5230368" y="3127248"/>
            <a:ext cx="3383280" cy="438912"/>
          </a:xfrm>
          <a:prstGeom prst="rect">
            <a:avLst/>
          </a:prstGeom>
          <a:noFill/>
          <a:ln/>
        </p:spPr>
        <p:txBody>
          <a:bodyPr wrap="square" rtlCol="0" anchor="ctr"/>
          <a:lstStyle/>
          <a:p>
            <a:pPr marL="0" indent="0">
              <a:buNone/>
            </a:pPr>
            <a:r>
              <a:rPr lang="en-US" sz="1100" dirty="0">
                <a:solidFill>
                  <a:srgbClr val="2D3748"/>
                </a:solidFill>
              </a:rPr>
              <a:t>¿Cuál es la región con mayor potencial de venta?</a:t>
            </a:r>
            <a:endParaRPr lang="en-US" sz="1100" dirty="0"/>
          </a:p>
        </p:txBody>
      </p:sp>
      <p:sp>
        <p:nvSpPr>
          <p:cNvPr id="33" name="Shape 31"/>
          <p:cNvSpPr/>
          <p:nvPr/>
        </p:nvSpPr>
        <p:spPr>
          <a:xfrm>
            <a:off x="365760" y="4114800"/>
            <a:ext cx="8412480" cy="685800"/>
          </a:xfrm>
          <a:prstGeom prst="rect">
            <a:avLst/>
          </a:prstGeom>
          <a:solidFill>
            <a:srgbClr val="021E3F"/>
          </a:solidFill>
          <a:ln w="12700">
            <a:solidFill>
              <a:srgbClr val="021E3F"/>
            </a:solidFill>
            <a:prstDash val="solid"/>
          </a:ln>
        </p:spPr>
        <p:txBody>
          <a:bodyPr/>
          <a:lstStyle/>
          <a:p>
            <a:endParaRPr lang="es-CO"/>
          </a:p>
        </p:txBody>
      </p:sp>
      <p:sp>
        <p:nvSpPr>
          <p:cNvPr id="34" name="Text 32"/>
          <p:cNvSpPr/>
          <p:nvPr/>
        </p:nvSpPr>
        <p:spPr>
          <a:xfrm>
            <a:off x="457200" y="4160520"/>
            <a:ext cx="8229600" cy="594360"/>
          </a:xfrm>
          <a:prstGeom prst="rect">
            <a:avLst/>
          </a:prstGeom>
          <a:noFill/>
          <a:ln/>
        </p:spPr>
        <p:txBody>
          <a:bodyPr wrap="square" rtlCol="0" anchor="ctr"/>
          <a:lstStyle/>
          <a:p>
            <a:pPr marL="0" indent="0" algn="ctr">
              <a:buNone/>
            </a:pPr>
            <a:r>
              <a:rPr lang="en-US" sz="1400" b="1" dirty="0">
                <a:solidFill>
                  <a:srgbClr val="02C39A"/>
                </a:solidFill>
              </a:rPr>
              <a:t>1.345 registros de clients </a:t>
            </a:r>
            <a:r>
              <a:rPr lang="en-US" sz="1400" b="1" dirty="0" err="1">
                <a:solidFill>
                  <a:srgbClr val="02C39A"/>
                </a:solidFill>
              </a:rPr>
              <a:t>utilizables</a:t>
            </a:r>
            <a:r>
              <a:rPr lang="en-US" sz="1400" b="1" dirty="0">
                <a:solidFill>
                  <a:srgbClr val="02C39A"/>
                </a:solidFill>
              </a:rPr>
              <a:t>  |  7 variables  |  4 regiones colombianas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1E3F"/>
          </a:solidFill>
          <a:ln w="12700">
            <a:solidFill>
              <a:srgbClr val="021E3F"/>
            </a:solidFill>
            <a:prstDash val="solid"/>
          </a:ln>
        </p:spPr>
        <p:txBody>
          <a:bodyPr/>
          <a:lstStyle/>
          <a:p>
            <a:endParaRPr lang="es-CO"/>
          </a:p>
        </p:txBody>
      </p:sp>
      <p:sp>
        <p:nvSpPr>
          <p:cNvPr id="3" name="Text 1"/>
          <p:cNvSpPr/>
          <p:nvPr/>
        </p:nvSpPr>
        <p:spPr>
          <a:xfrm>
            <a:off x="457200" y="182880"/>
            <a:ext cx="8229600" cy="502920"/>
          </a:xfrm>
          <a:prstGeom prst="rect">
            <a:avLst/>
          </a:prstGeom>
          <a:noFill/>
          <a:ln/>
        </p:spPr>
        <p:txBody>
          <a:bodyPr wrap="square" rtlCol="0" anchor="ctr"/>
          <a:lstStyle/>
          <a:p>
            <a:pPr marL="0" indent="0">
              <a:buNone/>
            </a:pPr>
            <a:r>
              <a:rPr lang="en-US" sz="2800" b="1" dirty="0">
                <a:solidFill>
                  <a:srgbClr val="021E3F"/>
                </a:solidFill>
              </a:rPr>
              <a:t>Instalación de Librerías</a:t>
            </a:r>
            <a:endParaRPr lang="en-US" sz="2800" dirty="0"/>
          </a:p>
        </p:txBody>
      </p:sp>
      <p:sp>
        <p:nvSpPr>
          <p:cNvPr id="4" name="Shape 2"/>
          <p:cNvSpPr/>
          <p:nvPr/>
        </p:nvSpPr>
        <p:spPr>
          <a:xfrm>
            <a:off x="365760" y="841248"/>
            <a:ext cx="8412480" cy="1051560"/>
          </a:xfrm>
          <a:prstGeom prst="rect">
            <a:avLst/>
          </a:prstGeom>
          <a:solidFill>
            <a:srgbClr val="1E293B"/>
          </a:solidFill>
          <a:ln w="12700">
            <a:solidFill>
              <a:srgbClr val="1E293B"/>
            </a:solidFill>
            <a:prstDash val="solid"/>
          </a:ln>
        </p:spPr>
        <p:txBody>
          <a:bodyPr/>
          <a:lstStyle/>
          <a:p>
            <a:endParaRPr lang="es-CO"/>
          </a:p>
        </p:txBody>
      </p:sp>
      <p:sp>
        <p:nvSpPr>
          <p:cNvPr id="5" name="Text 3"/>
          <p:cNvSpPr/>
          <p:nvPr/>
        </p:nvSpPr>
        <p:spPr>
          <a:xfrm>
            <a:off x="548640" y="886968"/>
            <a:ext cx="8046720" cy="914400"/>
          </a:xfrm>
          <a:prstGeom prst="rect">
            <a:avLst/>
          </a:prstGeom>
          <a:noFill/>
          <a:ln/>
        </p:spPr>
        <p:txBody>
          <a:bodyPr wrap="square" rtlCol="0" anchor="ctr"/>
          <a:lstStyle/>
          <a:p>
            <a:pPr marL="0" indent="0">
              <a:buNone/>
            </a:pPr>
            <a:r>
              <a:rPr lang="en-US" sz="1300" dirty="0">
                <a:solidFill>
                  <a:srgbClr val="A8D8A8"/>
                </a:solidFill>
                <a:latin typeface="Consolas" pitchFamily="34" charset="0"/>
                <a:ea typeface="Consolas" pitchFamily="34" charset="-122"/>
                <a:cs typeface="Consolas" pitchFamily="34" charset="-120"/>
              </a:rPr>
              <a:t># Instalación: !pip install pandas matplotlib seaborn</a:t>
            </a:r>
            <a:endParaRPr lang="en-US" sz="1300" dirty="0"/>
          </a:p>
        </p:txBody>
      </p:sp>
      <p:sp>
        <p:nvSpPr>
          <p:cNvPr id="6" name="Shape 4"/>
          <p:cNvSpPr/>
          <p:nvPr/>
        </p:nvSpPr>
        <p:spPr>
          <a:xfrm>
            <a:off x="365760" y="2029968"/>
            <a:ext cx="8412480" cy="1463040"/>
          </a:xfrm>
          <a:prstGeom prst="rect">
            <a:avLst/>
          </a:prstGeom>
          <a:solidFill>
            <a:srgbClr val="1E293B"/>
          </a:solidFill>
          <a:ln w="12700">
            <a:solidFill>
              <a:srgbClr val="1E293B"/>
            </a:solidFill>
            <a:prstDash val="solid"/>
          </a:ln>
        </p:spPr>
        <p:txBody>
          <a:bodyPr/>
          <a:lstStyle/>
          <a:p>
            <a:endParaRPr lang="es-CO"/>
          </a:p>
        </p:txBody>
      </p:sp>
      <p:sp>
        <p:nvSpPr>
          <p:cNvPr id="7" name="Text 5"/>
          <p:cNvSpPr/>
          <p:nvPr/>
        </p:nvSpPr>
        <p:spPr>
          <a:xfrm>
            <a:off x="548640" y="2084832"/>
            <a:ext cx="8046720" cy="1353312"/>
          </a:xfrm>
          <a:prstGeom prst="rect">
            <a:avLst/>
          </a:prstGeom>
          <a:noFill/>
          <a:ln/>
        </p:spPr>
        <p:txBody>
          <a:bodyPr wrap="square" rtlCol="0" anchor="ctr"/>
          <a:lstStyle/>
          <a:p>
            <a:pPr marL="0" indent="0">
              <a:buNone/>
            </a:pPr>
            <a:r>
              <a:rPr lang="en-US" sz="1300" dirty="0">
                <a:solidFill>
                  <a:srgbClr val="A8D8A8"/>
                </a:solidFill>
                <a:latin typeface="Consolas" pitchFamily="34" charset="0"/>
                <a:ea typeface="Consolas" pitchFamily="34" charset="-122"/>
                <a:cs typeface="Consolas" pitchFamily="34" charset="-120"/>
              </a:rPr>
              <a:t>import pandas as pd</a:t>
            </a:r>
            <a:endParaRPr lang="en-US" sz="1300" dirty="0"/>
          </a:p>
          <a:p>
            <a:pPr marL="0" indent="0">
              <a:buNone/>
            </a:pPr>
            <a:r>
              <a:rPr lang="en-US" sz="1300" dirty="0">
                <a:solidFill>
                  <a:srgbClr val="A8D8A8"/>
                </a:solidFill>
                <a:latin typeface="Consolas" pitchFamily="34" charset="0"/>
                <a:ea typeface="Consolas" pitchFamily="34" charset="-122"/>
                <a:cs typeface="Consolas" pitchFamily="34" charset="-120"/>
              </a:rPr>
              <a:t>import matplotlib.pyplot as plt</a:t>
            </a:r>
            <a:endParaRPr lang="en-US" sz="1300" dirty="0"/>
          </a:p>
          <a:p>
            <a:pPr marL="0" indent="0">
              <a:buNone/>
            </a:pPr>
            <a:r>
              <a:rPr lang="en-US" sz="1300" dirty="0">
                <a:solidFill>
                  <a:srgbClr val="A8D8A8"/>
                </a:solidFill>
                <a:latin typeface="Consolas" pitchFamily="34" charset="0"/>
                <a:ea typeface="Consolas" pitchFamily="34" charset="-122"/>
                <a:cs typeface="Consolas" pitchFamily="34" charset="-120"/>
              </a:rPr>
              <a:t>import seaborn as sns</a:t>
            </a:r>
            <a:endParaRPr lang="en-US" sz="1300" dirty="0"/>
          </a:p>
          <a:p>
            <a:pPr marL="0" indent="0">
              <a:buNone/>
            </a:pPr>
            <a:endParaRPr lang="en-US" sz="1300" dirty="0"/>
          </a:p>
          <a:p>
            <a:pPr marL="0" indent="0">
              <a:buNone/>
            </a:pPr>
            <a:r>
              <a:rPr lang="en-US" sz="1300" dirty="0">
                <a:solidFill>
                  <a:srgbClr val="A8D8A8"/>
                </a:solidFill>
                <a:latin typeface="Consolas" pitchFamily="34" charset="0"/>
                <a:ea typeface="Consolas" pitchFamily="34" charset="-122"/>
                <a:cs typeface="Consolas" pitchFamily="34" charset="-120"/>
              </a:rPr>
              <a:t>df = pd.read_csv('DatosSeguros.csv')</a:t>
            </a:r>
            <a:endParaRPr lang="en-US" sz="1300" dirty="0"/>
          </a:p>
        </p:txBody>
      </p:sp>
      <p:sp>
        <p:nvSpPr>
          <p:cNvPr id="8" name="Shape 6"/>
          <p:cNvSpPr/>
          <p:nvPr/>
        </p:nvSpPr>
        <p:spPr>
          <a:xfrm>
            <a:off x="365760" y="3657600"/>
            <a:ext cx="2743200" cy="1143000"/>
          </a:xfrm>
          <a:prstGeom prst="rect">
            <a:avLst/>
          </a:prstGeom>
          <a:solidFill>
            <a:srgbClr val="FFFFFF"/>
          </a:solidFill>
          <a:ln w="12700">
            <a:solidFill>
              <a:srgbClr val="E2EAF0"/>
            </a:solidFill>
            <a:prstDash val="solid"/>
          </a:ln>
        </p:spPr>
        <p:txBody>
          <a:bodyPr/>
          <a:lstStyle/>
          <a:p>
            <a:endParaRPr lang="es-CO"/>
          </a:p>
        </p:txBody>
      </p:sp>
      <p:sp>
        <p:nvSpPr>
          <p:cNvPr id="9" name="Shape 7"/>
          <p:cNvSpPr/>
          <p:nvPr/>
        </p:nvSpPr>
        <p:spPr>
          <a:xfrm>
            <a:off x="365760" y="3657600"/>
            <a:ext cx="2743200" cy="347472"/>
          </a:xfrm>
          <a:prstGeom prst="rect">
            <a:avLst/>
          </a:prstGeom>
          <a:solidFill>
            <a:srgbClr val="021E3F"/>
          </a:solidFill>
          <a:ln w="12700">
            <a:solidFill>
              <a:srgbClr val="021E3F"/>
            </a:solidFill>
            <a:prstDash val="solid"/>
          </a:ln>
        </p:spPr>
        <p:txBody>
          <a:bodyPr/>
          <a:lstStyle/>
          <a:p>
            <a:endParaRPr lang="es-CO"/>
          </a:p>
        </p:txBody>
      </p:sp>
      <p:sp>
        <p:nvSpPr>
          <p:cNvPr id="10" name="Text 8"/>
          <p:cNvSpPr/>
          <p:nvPr/>
        </p:nvSpPr>
        <p:spPr>
          <a:xfrm>
            <a:off x="457200" y="3675888"/>
            <a:ext cx="2560320" cy="310896"/>
          </a:xfrm>
          <a:prstGeom prst="rect">
            <a:avLst/>
          </a:prstGeom>
          <a:noFill/>
          <a:ln/>
        </p:spPr>
        <p:txBody>
          <a:bodyPr wrap="square" rtlCol="0" anchor="ctr"/>
          <a:lstStyle/>
          <a:p>
            <a:pPr marL="0" indent="0" algn="ctr">
              <a:buNone/>
            </a:pPr>
            <a:r>
              <a:rPr lang="en-US" sz="1300" b="1" dirty="0">
                <a:solidFill>
                  <a:srgbClr val="FFFFFF"/>
                </a:solidFill>
              </a:rPr>
              <a:t>pandas</a:t>
            </a:r>
            <a:endParaRPr lang="en-US" sz="1300" dirty="0"/>
          </a:p>
        </p:txBody>
      </p:sp>
      <p:sp>
        <p:nvSpPr>
          <p:cNvPr id="11" name="Text 9"/>
          <p:cNvSpPr/>
          <p:nvPr/>
        </p:nvSpPr>
        <p:spPr>
          <a:xfrm>
            <a:off x="457200" y="4069080"/>
            <a:ext cx="2560320" cy="658368"/>
          </a:xfrm>
          <a:prstGeom prst="rect">
            <a:avLst/>
          </a:prstGeom>
          <a:noFill/>
          <a:ln/>
        </p:spPr>
        <p:txBody>
          <a:bodyPr wrap="square" rtlCol="0" anchor="ctr"/>
          <a:lstStyle/>
          <a:p>
            <a:pPr marL="0" indent="0" algn="ctr">
              <a:buNone/>
            </a:pPr>
            <a:r>
              <a:rPr lang="en-US" sz="1100" dirty="0">
                <a:solidFill>
                  <a:srgbClr val="64748B"/>
                </a:solidFill>
              </a:rPr>
              <a:t>Carga, limpieza y manipulación de datos en tablas (DataFrames)</a:t>
            </a:r>
            <a:endParaRPr lang="en-US" sz="1100" dirty="0"/>
          </a:p>
        </p:txBody>
      </p:sp>
      <p:sp>
        <p:nvSpPr>
          <p:cNvPr id="12" name="Shape 10"/>
          <p:cNvSpPr/>
          <p:nvPr/>
        </p:nvSpPr>
        <p:spPr>
          <a:xfrm>
            <a:off x="3291840" y="3657600"/>
            <a:ext cx="2743200" cy="1143000"/>
          </a:xfrm>
          <a:prstGeom prst="rect">
            <a:avLst/>
          </a:prstGeom>
          <a:solidFill>
            <a:srgbClr val="FFFFFF"/>
          </a:solidFill>
          <a:ln w="12700">
            <a:solidFill>
              <a:srgbClr val="E2EAF0"/>
            </a:solidFill>
            <a:prstDash val="solid"/>
          </a:ln>
        </p:spPr>
        <p:txBody>
          <a:bodyPr/>
          <a:lstStyle/>
          <a:p>
            <a:endParaRPr lang="es-CO"/>
          </a:p>
        </p:txBody>
      </p:sp>
      <p:sp>
        <p:nvSpPr>
          <p:cNvPr id="13" name="Shape 11"/>
          <p:cNvSpPr/>
          <p:nvPr/>
        </p:nvSpPr>
        <p:spPr>
          <a:xfrm>
            <a:off x="3291840" y="3657600"/>
            <a:ext cx="2743200" cy="347472"/>
          </a:xfrm>
          <a:prstGeom prst="rect">
            <a:avLst/>
          </a:prstGeom>
          <a:solidFill>
            <a:srgbClr val="028090"/>
          </a:solidFill>
          <a:ln w="12700">
            <a:solidFill>
              <a:srgbClr val="028090"/>
            </a:solidFill>
            <a:prstDash val="solid"/>
          </a:ln>
        </p:spPr>
        <p:txBody>
          <a:bodyPr/>
          <a:lstStyle/>
          <a:p>
            <a:endParaRPr lang="es-CO"/>
          </a:p>
        </p:txBody>
      </p:sp>
      <p:sp>
        <p:nvSpPr>
          <p:cNvPr id="14" name="Text 12"/>
          <p:cNvSpPr/>
          <p:nvPr/>
        </p:nvSpPr>
        <p:spPr>
          <a:xfrm>
            <a:off x="3383280" y="3675888"/>
            <a:ext cx="2560320" cy="310896"/>
          </a:xfrm>
          <a:prstGeom prst="rect">
            <a:avLst/>
          </a:prstGeom>
          <a:noFill/>
          <a:ln/>
        </p:spPr>
        <p:txBody>
          <a:bodyPr wrap="square" rtlCol="0" anchor="ctr"/>
          <a:lstStyle/>
          <a:p>
            <a:pPr marL="0" indent="0" algn="ctr">
              <a:buNone/>
            </a:pPr>
            <a:r>
              <a:rPr lang="en-US" sz="1300" b="1" dirty="0">
                <a:solidFill>
                  <a:srgbClr val="FFFFFF"/>
                </a:solidFill>
              </a:rPr>
              <a:t>matplotlib</a:t>
            </a:r>
            <a:endParaRPr lang="en-US" sz="1300" dirty="0"/>
          </a:p>
        </p:txBody>
      </p:sp>
      <p:sp>
        <p:nvSpPr>
          <p:cNvPr id="15" name="Text 13"/>
          <p:cNvSpPr/>
          <p:nvPr/>
        </p:nvSpPr>
        <p:spPr>
          <a:xfrm>
            <a:off x="3383280" y="4069080"/>
            <a:ext cx="2560320" cy="658368"/>
          </a:xfrm>
          <a:prstGeom prst="rect">
            <a:avLst/>
          </a:prstGeom>
          <a:noFill/>
          <a:ln/>
        </p:spPr>
        <p:txBody>
          <a:bodyPr wrap="square" rtlCol="0" anchor="ctr"/>
          <a:lstStyle/>
          <a:p>
            <a:pPr marL="0" indent="0" algn="ctr">
              <a:buNone/>
            </a:pPr>
            <a:r>
              <a:rPr lang="en-US" sz="1100" dirty="0">
                <a:solidFill>
                  <a:srgbClr val="64748B"/>
                </a:solidFill>
              </a:rPr>
              <a:t>Librería base para generación de gráficas en Python</a:t>
            </a:r>
            <a:endParaRPr lang="en-US" sz="1100" dirty="0"/>
          </a:p>
        </p:txBody>
      </p:sp>
      <p:sp>
        <p:nvSpPr>
          <p:cNvPr id="16" name="Shape 14"/>
          <p:cNvSpPr/>
          <p:nvPr/>
        </p:nvSpPr>
        <p:spPr>
          <a:xfrm>
            <a:off x="6217920" y="3657600"/>
            <a:ext cx="2743200" cy="1143000"/>
          </a:xfrm>
          <a:prstGeom prst="rect">
            <a:avLst/>
          </a:prstGeom>
          <a:solidFill>
            <a:srgbClr val="FFFFFF"/>
          </a:solidFill>
          <a:ln w="12700">
            <a:solidFill>
              <a:srgbClr val="E2EAF0"/>
            </a:solidFill>
            <a:prstDash val="solid"/>
          </a:ln>
        </p:spPr>
        <p:txBody>
          <a:bodyPr/>
          <a:lstStyle/>
          <a:p>
            <a:endParaRPr lang="es-CO"/>
          </a:p>
        </p:txBody>
      </p:sp>
      <p:sp>
        <p:nvSpPr>
          <p:cNvPr id="17" name="Shape 15"/>
          <p:cNvSpPr/>
          <p:nvPr/>
        </p:nvSpPr>
        <p:spPr>
          <a:xfrm>
            <a:off x="6217920" y="3657600"/>
            <a:ext cx="2743200" cy="347472"/>
          </a:xfrm>
          <a:prstGeom prst="rect">
            <a:avLst/>
          </a:prstGeom>
          <a:solidFill>
            <a:srgbClr val="7B2D8B"/>
          </a:solidFill>
          <a:ln w="12700">
            <a:solidFill>
              <a:srgbClr val="7B2D8B"/>
            </a:solidFill>
            <a:prstDash val="solid"/>
          </a:ln>
        </p:spPr>
        <p:txBody>
          <a:bodyPr/>
          <a:lstStyle/>
          <a:p>
            <a:endParaRPr lang="es-CO"/>
          </a:p>
        </p:txBody>
      </p:sp>
      <p:sp>
        <p:nvSpPr>
          <p:cNvPr id="18" name="Text 16"/>
          <p:cNvSpPr/>
          <p:nvPr/>
        </p:nvSpPr>
        <p:spPr>
          <a:xfrm>
            <a:off x="6309360" y="3675888"/>
            <a:ext cx="2560320" cy="310896"/>
          </a:xfrm>
          <a:prstGeom prst="rect">
            <a:avLst/>
          </a:prstGeom>
          <a:noFill/>
          <a:ln/>
        </p:spPr>
        <p:txBody>
          <a:bodyPr wrap="square" rtlCol="0" anchor="ctr"/>
          <a:lstStyle/>
          <a:p>
            <a:pPr marL="0" indent="0" algn="ctr">
              <a:buNone/>
            </a:pPr>
            <a:r>
              <a:rPr lang="en-US" sz="1300" b="1" dirty="0">
                <a:solidFill>
                  <a:srgbClr val="FFFFFF"/>
                </a:solidFill>
              </a:rPr>
              <a:t>seaborn</a:t>
            </a:r>
            <a:endParaRPr lang="en-US" sz="1300" dirty="0"/>
          </a:p>
        </p:txBody>
      </p:sp>
      <p:sp>
        <p:nvSpPr>
          <p:cNvPr id="19" name="Text 17"/>
          <p:cNvSpPr/>
          <p:nvPr/>
        </p:nvSpPr>
        <p:spPr>
          <a:xfrm>
            <a:off x="6309360" y="4069080"/>
            <a:ext cx="2560320" cy="658368"/>
          </a:xfrm>
          <a:prstGeom prst="rect">
            <a:avLst/>
          </a:prstGeom>
          <a:noFill/>
          <a:ln/>
        </p:spPr>
        <p:txBody>
          <a:bodyPr wrap="square" rtlCol="0" anchor="ctr"/>
          <a:lstStyle/>
          <a:p>
            <a:pPr marL="0" indent="0" algn="ctr">
              <a:buNone/>
            </a:pPr>
            <a:r>
              <a:rPr lang="en-US" sz="1100" dirty="0">
                <a:solidFill>
                  <a:srgbClr val="64748B"/>
                </a:solidFill>
              </a:rPr>
              <a:t>Visualizaciones estadísticas avanzadas con estilo profesional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1E3F"/>
          </a:solidFill>
          <a:ln w="12700">
            <a:solidFill>
              <a:srgbClr val="021E3F"/>
            </a:solidFill>
            <a:prstDash val="solid"/>
          </a:ln>
        </p:spPr>
        <p:txBody>
          <a:bodyPr/>
          <a:lstStyle/>
          <a:p>
            <a:endParaRPr lang="es-CO"/>
          </a:p>
        </p:txBody>
      </p:sp>
      <p:sp>
        <p:nvSpPr>
          <p:cNvPr id="3" name="Text 1"/>
          <p:cNvSpPr/>
          <p:nvPr/>
        </p:nvSpPr>
        <p:spPr>
          <a:xfrm>
            <a:off x="457200" y="164592"/>
            <a:ext cx="8229600" cy="457200"/>
          </a:xfrm>
          <a:prstGeom prst="rect">
            <a:avLst/>
          </a:prstGeom>
          <a:noFill/>
          <a:ln/>
        </p:spPr>
        <p:txBody>
          <a:bodyPr wrap="square" rtlCol="0" anchor="ctr"/>
          <a:lstStyle/>
          <a:p>
            <a:pPr marL="0" indent="0">
              <a:buNone/>
            </a:pPr>
            <a:r>
              <a:rPr lang="en-US" sz="2400" b="1" dirty="0">
                <a:solidFill>
                  <a:srgbClr val="021E3F"/>
                </a:solidFill>
              </a:rPr>
              <a:t>Gráfica Circular (Pie Chart) — Figura 6</a:t>
            </a:r>
            <a:endParaRPr lang="en-US" sz="2400" dirty="0"/>
          </a:p>
        </p:txBody>
      </p:sp>
      <p:sp>
        <p:nvSpPr>
          <p:cNvPr id="5" name="Shape 2"/>
          <p:cNvSpPr/>
          <p:nvPr/>
        </p:nvSpPr>
        <p:spPr>
          <a:xfrm>
            <a:off x="4572000" y="731520"/>
            <a:ext cx="4297680" cy="2286000"/>
          </a:xfrm>
          <a:prstGeom prst="rect">
            <a:avLst/>
          </a:prstGeom>
          <a:solidFill>
            <a:srgbClr val="1E293B"/>
          </a:solidFill>
          <a:ln w="12700">
            <a:solidFill>
              <a:srgbClr val="1E293B"/>
            </a:solidFill>
            <a:prstDash val="solid"/>
          </a:ln>
        </p:spPr>
        <p:txBody>
          <a:bodyPr/>
          <a:lstStyle/>
          <a:p>
            <a:endParaRPr lang="es-CO"/>
          </a:p>
        </p:txBody>
      </p:sp>
      <p:sp>
        <p:nvSpPr>
          <p:cNvPr id="6" name="Text 3"/>
          <p:cNvSpPr/>
          <p:nvPr/>
        </p:nvSpPr>
        <p:spPr>
          <a:xfrm>
            <a:off x="4686300" y="757174"/>
            <a:ext cx="4069080" cy="2212848"/>
          </a:xfrm>
          <a:prstGeom prst="rect">
            <a:avLst/>
          </a:prstGeom>
          <a:noFill/>
          <a:ln/>
        </p:spPr>
        <p:txBody>
          <a:bodyPr wrap="square" rtlCol="0" anchor="ctr"/>
          <a:lstStyle/>
          <a:p>
            <a:pPr marL="0" indent="0">
              <a:buNone/>
            </a:pPr>
            <a:r>
              <a:rPr lang="en-US" sz="1050" dirty="0">
                <a:solidFill>
                  <a:srgbClr val="A8D8A8"/>
                </a:solidFill>
                <a:latin typeface="Consolas" pitchFamily="34" charset="0"/>
                <a:ea typeface="Consolas" pitchFamily="34" charset="-122"/>
                <a:cs typeface="Consolas" pitchFamily="34" charset="-120"/>
              </a:rPr>
              <a:t>conteo = df['fumador'].value_counts()</a:t>
            </a:r>
            <a:endParaRPr lang="en-US" sz="1050" dirty="0"/>
          </a:p>
          <a:p>
            <a:pPr marL="0" indent="0">
              <a:buNone/>
            </a:pPr>
            <a:r>
              <a:rPr lang="en-US" sz="1050" dirty="0">
                <a:solidFill>
                  <a:srgbClr val="A8D8A8"/>
                </a:solidFill>
                <a:latin typeface="Consolas" pitchFamily="34" charset="0"/>
                <a:ea typeface="Consolas" pitchFamily="34" charset="-122"/>
                <a:cs typeface="Consolas" pitchFamily="34" charset="-120"/>
              </a:rPr>
              <a:t>colores = ['#6baed6','#fd8d3c']</a:t>
            </a:r>
            <a:endParaRPr lang="en-US" sz="1050" dirty="0"/>
          </a:p>
          <a:p>
            <a:pPr marL="0" indent="0">
              <a:buNone/>
            </a:pPr>
            <a:r>
              <a:rPr lang="en-US" sz="1050" dirty="0">
                <a:solidFill>
                  <a:srgbClr val="A8D8A8"/>
                </a:solidFill>
                <a:latin typeface="Consolas" pitchFamily="34" charset="0"/>
                <a:ea typeface="Consolas" pitchFamily="34" charset="-122"/>
                <a:cs typeface="Consolas" pitchFamily="34" charset="-120"/>
              </a:rPr>
              <a:t>etiquetas = ['no','yes']</a:t>
            </a:r>
            <a:endParaRPr lang="en-US" sz="1050" dirty="0"/>
          </a:p>
          <a:p>
            <a:pPr marL="0" indent="0">
              <a:buNone/>
            </a:pPr>
            <a:endParaRPr lang="en-US" sz="1050" dirty="0"/>
          </a:p>
          <a:p>
            <a:pPr marL="0" indent="0">
              <a:buNone/>
            </a:pPr>
            <a:r>
              <a:rPr lang="en-US" sz="1050" dirty="0">
                <a:solidFill>
                  <a:srgbClr val="A8D8A8"/>
                </a:solidFill>
                <a:latin typeface="Consolas" pitchFamily="34" charset="0"/>
                <a:ea typeface="Consolas" pitchFamily="34" charset="-122"/>
                <a:cs typeface="Consolas" pitchFamily="34" charset="-120"/>
              </a:rPr>
              <a:t>fig, ax = plt.subplots(figsize=(6,6))</a:t>
            </a:r>
            <a:endParaRPr lang="en-US" sz="1050" dirty="0"/>
          </a:p>
          <a:p>
            <a:pPr marL="0" indent="0">
              <a:buNone/>
            </a:pPr>
            <a:r>
              <a:rPr lang="en-US" sz="1050" dirty="0">
                <a:solidFill>
                  <a:srgbClr val="A8D8A8"/>
                </a:solidFill>
                <a:latin typeface="Consolas" pitchFamily="34" charset="0"/>
                <a:ea typeface="Consolas" pitchFamily="34" charset="-122"/>
                <a:cs typeface="Consolas" pitchFamily="34" charset="-120"/>
              </a:rPr>
              <a:t>ax.pie(conteo, labels=etiquetas,</a:t>
            </a:r>
            <a:endParaRPr lang="en-US" sz="1050" dirty="0"/>
          </a:p>
          <a:p>
            <a:pPr marL="0" indent="0">
              <a:buNone/>
            </a:pPr>
            <a:r>
              <a:rPr lang="en-US" sz="1050" dirty="0">
                <a:solidFill>
                  <a:srgbClr val="A8D8A8"/>
                </a:solidFill>
                <a:latin typeface="Consolas" pitchFamily="34" charset="0"/>
                <a:ea typeface="Consolas" pitchFamily="34" charset="-122"/>
                <a:cs typeface="Consolas" pitchFamily="34" charset="-120"/>
              </a:rPr>
              <a:t>       autopct='%1.1f%%',</a:t>
            </a:r>
            <a:endParaRPr lang="en-US" sz="1050" dirty="0"/>
          </a:p>
          <a:p>
            <a:pPr marL="0" indent="0">
              <a:buNone/>
            </a:pPr>
            <a:r>
              <a:rPr lang="en-US" sz="1050" dirty="0">
                <a:solidFill>
                  <a:srgbClr val="A8D8A8"/>
                </a:solidFill>
                <a:latin typeface="Consolas" pitchFamily="34" charset="0"/>
                <a:ea typeface="Consolas" pitchFamily="34" charset="-122"/>
                <a:cs typeface="Consolas" pitchFamily="34" charset="-120"/>
              </a:rPr>
              <a:t>       colors=colores,</a:t>
            </a:r>
            <a:endParaRPr lang="en-US" sz="1050" dirty="0"/>
          </a:p>
          <a:p>
            <a:pPr marL="0" indent="0">
              <a:buNone/>
            </a:pPr>
            <a:r>
              <a:rPr lang="en-US" sz="1050" dirty="0">
                <a:solidFill>
                  <a:srgbClr val="A8D8A8"/>
                </a:solidFill>
                <a:latin typeface="Consolas" pitchFamily="34" charset="0"/>
                <a:ea typeface="Consolas" pitchFamily="34" charset="-122"/>
                <a:cs typeface="Consolas" pitchFamily="34" charset="-120"/>
              </a:rPr>
              <a:t>       startangle=90)</a:t>
            </a:r>
          </a:p>
          <a:p>
            <a:pPr marL="0" indent="0">
              <a:buNone/>
            </a:pPr>
            <a:endParaRPr lang="en-US" sz="1050" dirty="0">
              <a:solidFill>
                <a:srgbClr val="A8D8A8"/>
              </a:solidFill>
              <a:latin typeface="Consolas" pitchFamily="34" charset="0"/>
              <a:ea typeface="Consolas" pitchFamily="34" charset="-122"/>
              <a:cs typeface="Consolas" pitchFamily="34" charset="-120"/>
            </a:endParaRPr>
          </a:p>
          <a:p>
            <a:r>
              <a:rPr lang="es-CO" sz="1050" dirty="0">
                <a:solidFill>
                  <a:schemeClr val="accent6">
                    <a:lumMod val="40000"/>
                    <a:lumOff val="60000"/>
                  </a:schemeClr>
                </a:solidFill>
                <a:latin typeface="Consolas" panose="020B0609020204030204" pitchFamily="49" charset="0"/>
              </a:rPr>
              <a:t>ax.set_title('Figura 6 - Distribución porcentual de fumadores', fontsize=13)</a:t>
            </a:r>
          </a:p>
          <a:p>
            <a:r>
              <a:rPr lang="es-CO" sz="1050" dirty="0">
                <a:solidFill>
                  <a:schemeClr val="accent6">
                    <a:lumMod val="40000"/>
                    <a:lumOff val="60000"/>
                  </a:schemeClr>
                </a:solidFill>
                <a:latin typeface="Consolas" panose="020B0609020204030204" pitchFamily="49" charset="0"/>
              </a:rPr>
              <a:t>plt.tight_layout()</a:t>
            </a:r>
            <a:endParaRPr lang="en-US" sz="1050" dirty="0">
              <a:solidFill>
                <a:schemeClr val="accent6">
                  <a:lumMod val="40000"/>
                  <a:lumOff val="60000"/>
                </a:schemeClr>
              </a:solidFill>
            </a:endParaRPr>
          </a:p>
          <a:p>
            <a:pPr marL="0" indent="0">
              <a:buNone/>
            </a:pPr>
            <a:r>
              <a:rPr lang="en-US" sz="1050" dirty="0">
                <a:solidFill>
                  <a:srgbClr val="A8D8A8"/>
                </a:solidFill>
                <a:latin typeface="Consolas" pitchFamily="34" charset="0"/>
                <a:ea typeface="Consolas" pitchFamily="34" charset="-122"/>
                <a:cs typeface="Consolas" pitchFamily="34" charset="-120"/>
              </a:rPr>
              <a:t>plt.show()</a:t>
            </a:r>
            <a:endParaRPr lang="en-US" sz="1050" dirty="0"/>
          </a:p>
        </p:txBody>
      </p:sp>
      <p:sp>
        <p:nvSpPr>
          <p:cNvPr id="7" name="Shape 4"/>
          <p:cNvSpPr/>
          <p:nvPr/>
        </p:nvSpPr>
        <p:spPr>
          <a:xfrm>
            <a:off x="4572000" y="3154680"/>
            <a:ext cx="4297680" cy="1600200"/>
          </a:xfrm>
          <a:prstGeom prst="rect">
            <a:avLst/>
          </a:prstGeom>
          <a:solidFill>
            <a:srgbClr val="FFFFFF"/>
          </a:solidFill>
          <a:ln w="12700">
            <a:solidFill>
              <a:srgbClr val="E2EAF0"/>
            </a:solidFill>
            <a:prstDash val="solid"/>
          </a:ln>
        </p:spPr>
        <p:txBody>
          <a:bodyPr/>
          <a:lstStyle/>
          <a:p>
            <a:endParaRPr lang="es-CO"/>
          </a:p>
        </p:txBody>
      </p:sp>
      <p:sp>
        <p:nvSpPr>
          <p:cNvPr id="8" name="Shape 5"/>
          <p:cNvSpPr/>
          <p:nvPr/>
        </p:nvSpPr>
        <p:spPr>
          <a:xfrm>
            <a:off x="4572000" y="3154680"/>
            <a:ext cx="64008" cy="1600200"/>
          </a:xfrm>
          <a:prstGeom prst="rect">
            <a:avLst/>
          </a:prstGeom>
          <a:solidFill>
            <a:srgbClr val="028090"/>
          </a:solidFill>
          <a:ln w="12700">
            <a:solidFill>
              <a:srgbClr val="028090"/>
            </a:solidFill>
            <a:prstDash val="solid"/>
          </a:ln>
        </p:spPr>
        <p:txBody>
          <a:bodyPr/>
          <a:lstStyle/>
          <a:p>
            <a:endParaRPr lang="es-CO"/>
          </a:p>
        </p:txBody>
      </p:sp>
      <p:sp>
        <p:nvSpPr>
          <p:cNvPr id="9" name="Text 6"/>
          <p:cNvSpPr/>
          <p:nvPr/>
        </p:nvSpPr>
        <p:spPr>
          <a:xfrm>
            <a:off x="4773168" y="3218688"/>
            <a:ext cx="4005072" cy="1463040"/>
          </a:xfrm>
          <a:prstGeom prst="rect">
            <a:avLst/>
          </a:prstGeom>
          <a:noFill/>
          <a:ln/>
        </p:spPr>
        <p:txBody>
          <a:bodyPr wrap="square" rtlCol="0" anchor="ctr"/>
          <a:lstStyle/>
          <a:p>
            <a:pPr marL="0" indent="0">
              <a:buNone/>
            </a:pPr>
            <a:r>
              <a:rPr lang="en-US" sz="1200" b="1" dirty="0">
                <a:solidFill>
                  <a:srgbClr val="021E3F"/>
                </a:solidFill>
              </a:rPr>
              <a:t>¿Qué muestra?
</a:t>
            </a:r>
            <a:r>
              <a:rPr lang="en-US" sz="1100" dirty="0">
                <a:solidFill>
                  <a:srgbClr val="64748B"/>
                </a:solidFill>
              </a:rPr>
              <a:t>Distribución porcentual de fumadores vs no fumadores. El 79,5% no fuma y solo el 20,5% sí, lo que contextualiza el análisis: son minoría en número.</a:t>
            </a:r>
            <a:endParaRPr lang="en-US" sz="1200" dirty="0"/>
          </a:p>
        </p:txBody>
      </p:sp>
      <p:pic>
        <p:nvPicPr>
          <p:cNvPr id="1030" name="Picture 6">
            <a:extLst>
              <a:ext uri="{FF2B5EF4-FFF2-40B4-BE49-F238E27FC236}">
                <a16:creationId xmlns:a16="http://schemas.microsoft.com/office/drawing/2014/main" id="{3EB0FB2D-F38E-0BFA-F623-606108B25C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564" y="804672"/>
            <a:ext cx="3527566" cy="3670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1E3F"/>
          </a:solidFill>
          <a:ln w="12700">
            <a:solidFill>
              <a:srgbClr val="021E3F"/>
            </a:solidFill>
            <a:prstDash val="solid"/>
          </a:ln>
        </p:spPr>
        <p:txBody>
          <a:bodyPr/>
          <a:lstStyle/>
          <a:p>
            <a:endParaRPr lang="es-CO"/>
          </a:p>
        </p:txBody>
      </p:sp>
      <p:sp>
        <p:nvSpPr>
          <p:cNvPr id="3" name="Text 1"/>
          <p:cNvSpPr/>
          <p:nvPr/>
        </p:nvSpPr>
        <p:spPr>
          <a:xfrm>
            <a:off x="457200" y="164592"/>
            <a:ext cx="8229600" cy="457200"/>
          </a:xfrm>
          <a:prstGeom prst="rect">
            <a:avLst/>
          </a:prstGeom>
          <a:noFill/>
          <a:ln/>
        </p:spPr>
        <p:txBody>
          <a:bodyPr wrap="square" rtlCol="0" anchor="ctr"/>
          <a:lstStyle/>
          <a:p>
            <a:pPr marL="0" indent="0">
              <a:buNone/>
            </a:pPr>
            <a:r>
              <a:rPr lang="en-US" sz="2200" b="1" dirty="0">
                <a:solidFill>
                  <a:srgbClr val="021E3F"/>
                </a:solidFill>
              </a:rPr>
              <a:t>Diagrama de Caja y Bigotes (Boxplot) — Figura 7</a:t>
            </a:r>
            <a:endParaRPr lang="en-US" sz="2200" dirty="0"/>
          </a:p>
        </p:txBody>
      </p:sp>
      <p:sp>
        <p:nvSpPr>
          <p:cNvPr id="28" name="Shape 26"/>
          <p:cNvSpPr/>
          <p:nvPr/>
        </p:nvSpPr>
        <p:spPr>
          <a:xfrm>
            <a:off x="4663440" y="731520"/>
            <a:ext cx="4206240" cy="2703830"/>
          </a:xfrm>
          <a:prstGeom prst="rect">
            <a:avLst/>
          </a:prstGeom>
          <a:solidFill>
            <a:srgbClr val="1E293B"/>
          </a:solidFill>
          <a:ln w="12700">
            <a:solidFill>
              <a:srgbClr val="1E293B"/>
            </a:solidFill>
            <a:prstDash val="solid"/>
          </a:ln>
        </p:spPr>
        <p:txBody>
          <a:bodyPr/>
          <a:lstStyle/>
          <a:p>
            <a:endParaRPr lang="es-CO"/>
          </a:p>
        </p:txBody>
      </p:sp>
      <p:sp>
        <p:nvSpPr>
          <p:cNvPr id="29" name="Text 27"/>
          <p:cNvSpPr/>
          <p:nvPr/>
        </p:nvSpPr>
        <p:spPr>
          <a:xfrm>
            <a:off x="4800600" y="900684"/>
            <a:ext cx="3977640" cy="2345436"/>
          </a:xfrm>
          <a:prstGeom prst="rect">
            <a:avLst/>
          </a:prstGeom>
          <a:noFill/>
          <a:ln/>
        </p:spPr>
        <p:txBody>
          <a:bodyPr wrap="square" rtlCol="0" anchor="ctr"/>
          <a:lstStyle/>
          <a:p>
            <a:pPr marL="0" indent="0">
              <a:buNone/>
            </a:pPr>
            <a:r>
              <a:rPr lang="en-US" sz="1050" dirty="0">
                <a:solidFill>
                  <a:srgbClr val="A8D8A8"/>
                </a:solidFill>
                <a:latin typeface="Consolas" pitchFamily="34" charset="0"/>
                <a:ea typeface="Consolas" pitchFamily="34" charset="-122"/>
                <a:cs typeface="Consolas" pitchFamily="34" charset="-120"/>
              </a:rPr>
              <a:t>fig, ax = plt.subplots(figsize=(6,6))</a:t>
            </a:r>
            <a:endParaRPr lang="en-US" sz="1050" dirty="0"/>
          </a:p>
          <a:p>
            <a:pPr marL="0" indent="0">
              <a:buNone/>
            </a:pPr>
            <a:r>
              <a:rPr lang="en-US" sz="1050" dirty="0">
                <a:solidFill>
                  <a:srgbClr val="A8D8A8"/>
                </a:solidFill>
                <a:latin typeface="Consolas" pitchFamily="34" charset="0"/>
                <a:ea typeface="Consolas" pitchFamily="34" charset="-122"/>
                <a:cs typeface="Consolas" pitchFamily="34" charset="-120"/>
              </a:rPr>
              <a:t>sns.boxplot(</a:t>
            </a:r>
            <a:endParaRPr lang="en-US" sz="1050" dirty="0"/>
          </a:p>
          <a:p>
            <a:pPr marL="0" indent="0">
              <a:buNone/>
            </a:pPr>
            <a:r>
              <a:rPr lang="en-US" sz="1050" dirty="0">
                <a:solidFill>
                  <a:srgbClr val="A8D8A8"/>
                </a:solidFill>
                <a:latin typeface="Consolas" pitchFamily="34" charset="0"/>
                <a:ea typeface="Consolas" pitchFamily="34" charset="-122"/>
                <a:cs typeface="Consolas" pitchFamily="34" charset="-120"/>
              </a:rPr>
              <a:t>  data=df, x='fumador',</a:t>
            </a:r>
            <a:endParaRPr lang="en-US" sz="1050" dirty="0"/>
          </a:p>
          <a:p>
            <a:pPr marL="0" indent="0">
              <a:buNone/>
            </a:pPr>
            <a:r>
              <a:rPr lang="en-US" sz="1050" dirty="0">
                <a:solidFill>
                  <a:srgbClr val="A8D8A8"/>
                </a:solidFill>
                <a:latin typeface="Consolas" pitchFamily="34" charset="0"/>
                <a:ea typeface="Consolas" pitchFamily="34" charset="-122"/>
                <a:cs typeface="Consolas" pitchFamily="34" charset="-120"/>
              </a:rPr>
              <a:t>  y='valor_seguro',</a:t>
            </a:r>
            <a:endParaRPr lang="en-US" sz="1050" dirty="0"/>
          </a:p>
          <a:p>
            <a:pPr marL="0" indent="0">
              <a:buNone/>
            </a:pPr>
            <a:r>
              <a:rPr lang="en-US" sz="1050" dirty="0">
                <a:solidFill>
                  <a:srgbClr val="A8D8A8"/>
                </a:solidFill>
                <a:latin typeface="Consolas" pitchFamily="34" charset="0"/>
                <a:ea typeface="Consolas" pitchFamily="34" charset="-122"/>
                <a:cs typeface="Consolas" pitchFamily="34" charset="-120"/>
              </a:rPr>
              <a:t>  order=['yes','no'],</a:t>
            </a:r>
            <a:endParaRPr lang="en-US" sz="1050" dirty="0"/>
          </a:p>
          <a:p>
            <a:pPr marL="0" indent="0">
              <a:buNone/>
            </a:pPr>
            <a:r>
              <a:rPr lang="en-US" sz="1050" dirty="0">
                <a:solidFill>
                  <a:srgbClr val="A8D8A8"/>
                </a:solidFill>
                <a:latin typeface="Consolas" pitchFamily="34" charset="0"/>
                <a:ea typeface="Consolas" pitchFamily="34" charset="-122"/>
                <a:cs typeface="Consolas" pitchFamily="34" charset="-120"/>
              </a:rPr>
              <a:t>  palette={'yes':'#e45c5c','no':'#6ab0d4'},</a:t>
            </a:r>
            <a:endParaRPr lang="en-US" sz="1050" dirty="0"/>
          </a:p>
          <a:p>
            <a:pPr marL="0" indent="0">
              <a:buNone/>
            </a:pPr>
            <a:r>
              <a:rPr lang="en-US" sz="1050" dirty="0">
                <a:solidFill>
                  <a:srgbClr val="A8D8A8"/>
                </a:solidFill>
                <a:latin typeface="Consolas" pitchFamily="34" charset="0"/>
                <a:ea typeface="Consolas" pitchFamily="34" charset="-122"/>
                <a:cs typeface="Consolas" pitchFamily="34" charset="-120"/>
              </a:rPr>
              <a:t>  width=0.5)</a:t>
            </a:r>
          </a:p>
          <a:p>
            <a:pPr marL="0" indent="0">
              <a:buNone/>
            </a:pPr>
            <a:endParaRPr lang="en-US" sz="1050" dirty="0">
              <a:solidFill>
                <a:srgbClr val="A8D8A8"/>
              </a:solidFill>
              <a:latin typeface="Consolas" pitchFamily="34" charset="0"/>
            </a:endParaRPr>
          </a:p>
          <a:p>
            <a:r>
              <a:rPr lang="es-CO" sz="1050" dirty="0">
                <a:solidFill>
                  <a:schemeClr val="accent6">
                    <a:lumMod val="40000"/>
                    <a:lumOff val="60000"/>
                  </a:schemeClr>
                </a:solidFill>
                <a:latin typeface="Consolas" panose="020B0609020204030204" pitchFamily="49" charset="0"/>
              </a:rPr>
              <a:t>ax.set_title('Figura 7 - Valor seguro contra fumador', fontsize=13)</a:t>
            </a:r>
          </a:p>
          <a:p>
            <a:r>
              <a:rPr lang="es-CO" sz="1050" dirty="0" err="1">
                <a:solidFill>
                  <a:schemeClr val="accent6">
                    <a:lumMod val="40000"/>
                    <a:lumOff val="60000"/>
                  </a:schemeClr>
                </a:solidFill>
                <a:latin typeface="Consolas" panose="020B0609020204030204" pitchFamily="49" charset="0"/>
              </a:rPr>
              <a:t>ax.set_xlabel</a:t>
            </a:r>
            <a:r>
              <a:rPr lang="es-CO" sz="1050" dirty="0">
                <a:solidFill>
                  <a:schemeClr val="accent6">
                    <a:lumMod val="40000"/>
                    <a:lumOff val="60000"/>
                  </a:schemeClr>
                </a:solidFill>
                <a:latin typeface="Consolas" panose="020B0609020204030204" pitchFamily="49" charset="0"/>
              </a:rPr>
              <a:t>('fumador', fontsize=11)</a:t>
            </a:r>
          </a:p>
          <a:p>
            <a:r>
              <a:rPr lang="es-CO" sz="1050" dirty="0" err="1">
                <a:solidFill>
                  <a:schemeClr val="accent6">
                    <a:lumMod val="40000"/>
                    <a:lumOff val="60000"/>
                  </a:schemeClr>
                </a:solidFill>
                <a:latin typeface="Consolas" panose="020B0609020204030204" pitchFamily="49" charset="0"/>
              </a:rPr>
              <a:t>ax.set_ylabel</a:t>
            </a:r>
            <a:r>
              <a:rPr lang="es-CO" sz="1050" dirty="0">
                <a:solidFill>
                  <a:schemeClr val="accent6">
                    <a:lumMod val="40000"/>
                    <a:lumOff val="60000"/>
                  </a:schemeClr>
                </a:solidFill>
                <a:latin typeface="Consolas" panose="020B0609020204030204" pitchFamily="49" charset="0"/>
              </a:rPr>
              <a:t>('valor seguro', fontsize=11)</a:t>
            </a:r>
          </a:p>
          <a:p>
            <a:r>
              <a:rPr lang="es-CO" sz="1050" dirty="0" err="1">
                <a:solidFill>
                  <a:schemeClr val="accent6">
                    <a:lumMod val="40000"/>
                    <a:lumOff val="60000"/>
                  </a:schemeClr>
                </a:solidFill>
                <a:latin typeface="Consolas" panose="020B0609020204030204" pitchFamily="49" charset="0"/>
              </a:rPr>
              <a:t>ax.yaxis.set_major_formatter</a:t>
            </a:r>
            <a:r>
              <a:rPr lang="es-CO" sz="1050" dirty="0">
                <a:solidFill>
                  <a:schemeClr val="accent6">
                    <a:lumMod val="40000"/>
                    <a:lumOff val="60000"/>
                  </a:schemeClr>
                </a:solidFill>
                <a:latin typeface="Consolas" panose="020B0609020204030204" pitchFamily="49" charset="0"/>
              </a:rPr>
              <a:t>(</a:t>
            </a:r>
          </a:p>
          <a:p>
            <a:r>
              <a:rPr lang="es-CO" sz="1050" dirty="0">
                <a:solidFill>
                  <a:schemeClr val="accent6">
                    <a:lumMod val="40000"/>
                    <a:lumOff val="60000"/>
                  </a:schemeClr>
                </a:solidFill>
                <a:latin typeface="Consolas" panose="020B0609020204030204" pitchFamily="49" charset="0"/>
              </a:rPr>
              <a:t>    plt.FuncFormatter(lambda x, _: f'${x:,.0f}'))</a:t>
            </a:r>
          </a:p>
          <a:p>
            <a:pPr marL="0" indent="0">
              <a:buNone/>
            </a:pPr>
            <a:endParaRPr lang="en-US" sz="1050" dirty="0">
              <a:solidFill>
                <a:schemeClr val="accent6">
                  <a:lumMod val="40000"/>
                  <a:lumOff val="60000"/>
                </a:schemeClr>
              </a:solidFill>
              <a:latin typeface="Consolas" panose="020B0609020204030204" pitchFamily="49" charset="0"/>
            </a:endParaRPr>
          </a:p>
          <a:p>
            <a:r>
              <a:rPr lang="es-CO" sz="1050" dirty="0">
                <a:solidFill>
                  <a:schemeClr val="accent6">
                    <a:lumMod val="40000"/>
                    <a:lumOff val="60000"/>
                  </a:schemeClr>
                </a:solidFill>
                <a:latin typeface="Consolas" panose="020B0609020204030204" pitchFamily="49" charset="0"/>
              </a:rPr>
              <a:t>plt.tight_layout()</a:t>
            </a:r>
            <a:endParaRPr lang="en-US" sz="1050" dirty="0">
              <a:solidFill>
                <a:schemeClr val="accent6">
                  <a:lumMod val="40000"/>
                  <a:lumOff val="60000"/>
                </a:schemeClr>
              </a:solidFill>
              <a:latin typeface="Consolas" panose="020B0609020204030204" pitchFamily="49" charset="0"/>
              <a:ea typeface="Consolas" pitchFamily="34" charset="-122"/>
              <a:cs typeface="Consolas" pitchFamily="34" charset="-120"/>
            </a:endParaRPr>
          </a:p>
          <a:p>
            <a:pPr marL="0" indent="0">
              <a:buNone/>
            </a:pPr>
            <a:r>
              <a:rPr lang="en-US" sz="1050" dirty="0">
                <a:solidFill>
                  <a:schemeClr val="accent6">
                    <a:lumMod val="40000"/>
                    <a:lumOff val="60000"/>
                  </a:schemeClr>
                </a:solidFill>
                <a:latin typeface="Consolas" panose="020B0609020204030204" pitchFamily="49" charset="0"/>
                <a:ea typeface="Consolas" pitchFamily="34" charset="-122"/>
                <a:cs typeface="Consolas" pitchFamily="34" charset="-120"/>
              </a:rPr>
              <a:t>plt.show()</a:t>
            </a:r>
            <a:endParaRPr lang="en-US" sz="1050" dirty="0">
              <a:solidFill>
                <a:schemeClr val="accent6">
                  <a:lumMod val="40000"/>
                  <a:lumOff val="60000"/>
                </a:schemeClr>
              </a:solidFill>
              <a:latin typeface="Consolas" panose="020B0609020204030204" pitchFamily="49" charset="0"/>
            </a:endParaRPr>
          </a:p>
        </p:txBody>
      </p:sp>
      <p:sp>
        <p:nvSpPr>
          <p:cNvPr id="30" name="Shape 28"/>
          <p:cNvSpPr/>
          <p:nvPr/>
        </p:nvSpPr>
        <p:spPr>
          <a:xfrm>
            <a:off x="4663440" y="3651250"/>
            <a:ext cx="4206240" cy="1149350"/>
          </a:xfrm>
          <a:prstGeom prst="rect">
            <a:avLst/>
          </a:prstGeom>
          <a:solidFill>
            <a:srgbClr val="FFFFFF"/>
          </a:solidFill>
          <a:ln w="12700">
            <a:solidFill>
              <a:srgbClr val="E2EAF0"/>
            </a:solidFill>
            <a:prstDash val="solid"/>
          </a:ln>
        </p:spPr>
        <p:txBody>
          <a:bodyPr/>
          <a:lstStyle/>
          <a:p>
            <a:endParaRPr lang="es-CO"/>
          </a:p>
        </p:txBody>
      </p:sp>
      <p:sp>
        <p:nvSpPr>
          <p:cNvPr id="31" name="Shape 29"/>
          <p:cNvSpPr/>
          <p:nvPr/>
        </p:nvSpPr>
        <p:spPr>
          <a:xfrm>
            <a:off x="4663440" y="3651250"/>
            <a:ext cx="64008" cy="1149350"/>
          </a:xfrm>
          <a:prstGeom prst="rect">
            <a:avLst/>
          </a:prstGeom>
          <a:solidFill>
            <a:srgbClr val="E24B4A"/>
          </a:solidFill>
          <a:ln w="12700">
            <a:solidFill>
              <a:srgbClr val="E24B4A"/>
            </a:solidFill>
            <a:prstDash val="solid"/>
          </a:ln>
        </p:spPr>
        <p:txBody>
          <a:bodyPr/>
          <a:lstStyle/>
          <a:p>
            <a:endParaRPr lang="es-CO"/>
          </a:p>
        </p:txBody>
      </p:sp>
      <p:sp>
        <p:nvSpPr>
          <p:cNvPr id="32" name="Text 30"/>
          <p:cNvSpPr/>
          <p:nvPr/>
        </p:nvSpPr>
        <p:spPr>
          <a:xfrm>
            <a:off x="4837176" y="3651250"/>
            <a:ext cx="3931920" cy="1076198"/>
          </a:xfrm>
          <a:prstGeom prst="rect">
            <a:avLst/>
          </a:prstGeom>
          <a:noFill/>
          <a:ln/>
        </p:spPr>
        <p:txBody>
          <a:bodyPr wrap="square" rtlCol="0" anchor="ctr"/>
          <a:lstStyle/>
          <a:p>
            <a:pPr marL="0" indent="0">
              <a:buNone/>
            </a:pPr>
            <a:r>
              <a:rPr lang="en-US" sz="1200" b="1" dirty="0">
                <a:solidFill>
                  <a:srgbClr val="021E3F"/>
                </a:solidFill>
              </a:rPr>
              <a:t>¿Qué muestra?
</a:t>
            </a:r>
            <a:r>
              <a:rPr lang="en-US" sz="1050" dirty="0">
                <a:solidFill>
                  <a:srgbClr val="64748B"/>
                </a:solidFill>
              </a:rPr>
              <a:t>Distribución del valor del seguro por grupo. La caja de fumadores ($21.000–$46.500) está completamente encima de la de no fumadores ($4.500–$12.000), sin superposición. </a:t>
            </a:r>
          </a:p>
          <a:p>
            <a:pPr marL="0" indent="0">
              <a:buNone/>
            </a:pPr>
            <a:r>
              <a:rPr lang="en-US" sz="1050" dirty="0">
                <a:solidFill>
                  <a:srgbClr val="64748B"/>
                </a:solidFill>
              </a:rPr>
              <a:t>Promedio fumador: $31.733 vs $8.430.</a:t>
            </a:r>
            <a:endParaRPr lang="en-US" sz="1200" dirty="0"/>
          </a:p>
        </p:txBody>
      </p:sp>
      <p:pic>
        <p:nvPicPr>
          <p:cNvPr id="2050" name="Picture 2">
            <a:extLst>
              <a:ext uri="{FF2B5EF4-FFF2-40B4-BE49-F238E27FC236}">
                <a16:creationId xmlns:a16="http://schemas.microsoft.com/office/drawing/2014/main" id="{B23AE3EC-A36C-8670-11EC-195071D2D4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904" y="804672"/>
            <a:ext cx="3922776" cy="39227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1E3F"/>
          </a:solidFill>
          <a:ln w="12700">
            <a:solidFill>
              <a:srgbClr val="021E3F"/>
            </a:solidFill>
            <a:prstDash val="solid"/>
          </a:ln>
        </p:spPr>
        <p:txBody>
          <a:bodyPr/>
          <a:lstStyle/>
          <a:p>
            <a:endParaRPr lang="es-CO"/>
          </a:p>
        </p:txBody>
      </p:sp>
      <p:sp>
        <p:nvSpPr>
          <p:cNvPr id="3" name="Text 1"/>
          <p:cNvSpPr/>
          <p:nvPr/>
        </p:nvSpPr>
        <p:spPr>
          <a:xfrm>
            <a:off x="457200" y="164592"/>
            <a:ext cx="8229600" cy="457200"/>
          </a:xfrm>
          <a:prstGeom prst="rect">
            <a:avLst/>
          </a:prstGeom>
          <a:noFill/>
          <a:ln/>
        </p:spPr>
        <p:txBody>
          <a:bodyPr wrap="square" rtlCol="0" anchor="ctr"/>
          <a:lstStyle/>
          <a:p>
            <a:pPr marL="0" indent="0">
              <a:buNone/>
            </a:pPr>
            <a:r>
              <a:rPr lang="en-US" sz="2400" b="1" dirty="0">
                <a:solidFill>
                  <a:srgbClr val="021E3F"/>
                </a:solidFill>
              </a:rPr>
              <a:t>Gráfica Circular de Valor Total — Figura 8</a:t>
            </a:r>
            <a:endParaRPr lang="en-US" sz="2400" dirty="0"/>
          </a:p>
        </p:txBody>
      </p:sp>
      <p:sp>
        <p:nvSpPr>
          <p:cNvPr id="5" name="Shape 2"/>
          <p:cNvSpPr/>
          <p:nvPr/>
        </p:nvSpPr>
        <p:spPr>
          <a:xfrm>
            <a:off x="4572000" y="731520"/>
            <a:ext cx="4297680" cy="1920240"/>
          </a:xfrm>
          <a:prstGeom prst="rect">
            <a:avLst/>
          </a:prstGeom>
          <a:solidFill>
            <a:srgbClr val="1E293B"/>
          </a:solidFill>
          <a:ln w="12700">
            <a:solidFill>
              <a:srgbClr val="1E293B"/>
            </a:solidFill>
            <a:prstDash val="solid"/>
          </a:ln>
        </p:spPr>
        <p:txBody>
          <a:bodyPr/>
          <a:lstStyle/>
          <a:p>
            <a:endParaRPr lang="es-CO"/>
          </a:p>
        </p:txBody>
      </p:sp>
      <p:sp>
        <p:nvSpPr>
          <p:cNvPr id="6" name="Text 3"/>
          <p:cNvSpPr/>
          <p:nvPr/>
        </p:nvSpPr>
        <p:spPr>
          <a:xfrm>
            <a:off x="4709160" y="795528"/>
            <a:ext cx="4069080" cy="1783080"/>
          </a:xfrm>
          <a:prstGeom prst="rect">
            <a:avLst/>
          </a:prstGeom>
          <a:noFill/>
          <a:ln/>
        </p:spPr>
        <p:txBody>
          <a:bodyPr wrap="square" rtlCol="0" anchor="ctr"/>
          <a:lstStyle/>
          <a:p>
            <a:pPr marL="0" indent="0">
              <a:buNone/>
            </a:pPr>
            <a:r>
              <a:rPr lang="en-US" sz="1050" dirty="0">
                <a:solidFill>
                  <a:srgbClr val="A8D8A8"/>
                </a:solidFill>
                <a:latin typeface="Consolas" pitchFamily="34" charset="0"/>
                <a:ea typeface="Consolas" pitchFamily="34" charset="-122"/>
                <a:cs typeface="Consolas" pitchFamily="34" charset="-120"/>
              </a:rPr>
              <a:t>total = df.groupby('</a:t>
            </a:r>
            <a:r>
              <a:rPr lang="en-US" sz="1050" dirty="0" err="1">
                <a:solidFill>
                  <a:srgbClr val="A8D8A8"/>
                </a:solidFill>
                <a:latin typeface="Consolas" pitchFamily="34" charset="0"/>
                <a:ea typeface="Consolas" pitchFamily="34" charset="-122"/>
                <a:cs typeface="Consolas" pitchFamily="34" charset="-120"/>
              </a:rPr>
              <a:t>fumador</a:t>
            </a:r>
            <a:r>
              <a:rPr lang="en-US" sz="1050" dirty="0">
                <a:solidFill>
                  <a:srgbClr val="A8D8A8"/>
                </a:solidFill>
                <a:latin typeface="Consolas" pitchFamily="34" charset="0"/>
                <a:ea typeface="Consolas" pitchFamily="34" charset="-122"/>
                <a:cs typeface="Consolas" pitchFamily="34" charset="-120"/>
              </a:rPr>
              <a:t>')['valor_seguro'].sum()</a:t>
            </a:r>
          </a:p>
          <a:p>
            <a:r>
              <a:rPr lang="es-CO" sz="1050" dirty="0">
                <a:solidFill>
                  <a:schemeClr val="accent6">
                    <a:lumMod val="40000"/>
                    <a:lumOff val="60000"/>
                  </a:schemeClr>
                </a:solidFill>
                <a:latin typeface="Consolas" panose="020B0609020204030204" pitchFamily="49" charset="0"/>
              </a:rPr>
              <a:t>colores = ['#6baed6', '#fd8d3c']</a:t>
            </a:r>
          </a:p>
          <a:p>
            <a:r>
              <a:rPr lang="es-CO" sz="1050" dirty="0">
                <a:solidFill>
                  <a:schemeClr val="accent6">
                    <a:lumMod val="40000"/>
                    <a:lumOff val="60000"/>
                  </a:schemeClr>
                </a:solidFill>
                <a:latin typeface="Consolas" panose="020B0609020204030204" pitchFamily="49" charset="0"/>
              </a:rPr>
              <a:t>etiquetas = ['no', 'yes']</a:t>
            </a:r>
          </a:p>
          <a:p>
            <a:pPr marL="0" indent="0">
              <a:buNone/>
            </a:pPr>
            <a:endParaRPr lang="en-US" sz="1050" dirty="0"/>
          </a:p>
          <a:p>
            <a:pPr marL="0" indent="0">
              <a:buNone/>
            </a:pPr>
            <a:endParaRPr lang="en-US" sz="1050" dirty="0"/>
          </a:p>
          <a:p>
            <a:pPr marL="0" indent="0">
              <a:buNone/>
            </a:pPr>
            <a:r>
              <a:rPr lang="en-US" sz="1050" dirty="0">
                <a:solidFill>
                  <a:srgbClr val="A8D8A8"/>
                </a:solidFill>
                <a:latin typeface="Consolas" pitchFamily="34" charset="0"/>
                <a:ea typeface="Consolas" pitchFamily="34" charset="-122"/>
                <a:cs typeface="Consolas" pitchFamily="34" charset="-120"/>
              </a:rPr>
              <a:t>fig, ax = plt.subplots(figsize=(6,6))</a:t>
            </a:r>
            <a:endParaRPr lang="en-US" sz="1050" dirty="0"/>
          </a:p>
          <a:p>
            <a:pPr marL="0" indent="0">
              <a:buNone/>
            </a:pPr>
            <a:r>
              <a:rPr lang="en-US" sz="1050" dirty="0">
                <a:solidFill>
                  <a:srgbClr val="A8D8A8"/>
                </a:solidFill>
                <a:latin typeface="Consolas" pitchFamily="34" charset="0"/>
                <a:ea typeface="Consolas" pitchFamily="34" charset="-122"/>
                <a:cs typeface="Consolas" pitchFamily="34" charset="-120"/>
              </a:rPr>
              <a:t>ax.pie(total, labels=['no','yes'],</a:t>
            </a:r>
            <a:endParaRPr lang="en-US" sz="1050" dirty="0"/>
          </a:p>
          <a:p>
            <a:pPr marL="0" indent="0">
              <a:buNone/>
            </a:pPr>
            <a:r>
              <a:rPr lang="en-US" sz="1050" dirty="0">
                <a:solidFill>
                  <a:srgbClr val="A8D8A8"/>
                </a:solidFill>
                <a:latin typeface="Consolas" pitchFamily="34" charset="0"/>
                <a:ea typeface="Consolas" pitchFamily="34" charset="-122"/>
                <a:cs typeface="Consolas" pitchFamily="34" charset="-120"/>
              </a:rPr>
              <a:t>       autopct='%1.1f%%',</a:t>
            </a:r>
            <a:endParaRPr lang="en-US" sz="1050" dirty="0"/>
          </a:p>
          <a:p>
            <a:pPr marL="0" indent="0">
              <a:buNone/>
            </a:pPr>
            <a:r>
              <a:rPr lang="en-US" sz="1050" dirty="0">
                <a:solidFill>
                  <a:srgbClr val="A8D8A8"/>
                </a:solidFill>
                <a:latin typeface="Consolas" pitchFamily="34" charset="0"/>
                <a:ea typeface="Consolas" pitchFamily="34" charset="-122"/>
                <a:cs typeface="Consolas" pitchFamily="34" charset="-120"/>
              </a:rPr>
              <a:t>       colors=</a:t>
            </a:r>
            <a:r>
              <a:rPr lang="en-US" sz="1050" dirty="0" err="1">
                <a:solidFill>
                  <a:srgbClr val="A8D8A8"/>
                </a:solidFill>
                <a:latin typeface="Consolas" pitchFamily="34" charset="0"/>
                <a:ea typeface="Consolas" pitchFamily="34" charset="-122"/>
                <a:cs typeface="Consolas" pitchFamily="34" charset="-120"/>
              </a:rPr>
              <a:t>colores</a:t>
            </a:r>
            <a:r>
              <a:rPr lang="en-US" sz="1050" dirty="0">
                <a:solidFill>
                  <a:srgbClr val="A8D8A8"/>
                </a:solidFill>
                <a:latin typeface="Consolas" pitchFamily="34" charset="0"/>
                <a:ea typeface="Consolas" pitchFamily="34" charset="-122"/>
                <a:cs typeface="Consolas" pitchFamily="34" charset="-120"/>
              </a:rPr>
              <a:t>)</a:t>
            </a:r>
            <a:endParaRPr lang="en-US" sz="1050" dirty="0"/>
          </a:p>
          <a:p>
            <a:pPr marL="0" indent="0">
              <a:buNone/>
            </a:pPr>
            <a:r>
              <a:rPr lang="en-US" sz="1050" dirty="0">
                <a:solidFill>
                  <a:srgbClr val="A8D8A8"/>
                </a:solidFill>
                <a:latin typeface="Consolas" pitchFamily="34" charset="0"/>
                <a:ea typeface="Consolas" pitchFamily="34" charset="-122"/>
                <a:cs typeface="Consolas" pitchFamily="34" charset="-120"/>
              </a:rPr>
              <a:t>plt.show()</a:t>
            </a:r>
            <a:endParaRPr lang="en-US" sz="1050" dirty="0"/>
          </a:p>
        </p:txBody>
      </p:sp>
      <p:sp>
        <p:nvSpPr>
          <p:cNvPr id="7" name="Shape 4"/>
          <p:cNvSpPr/>
          <p:nvPr/>
        </p:nvSpPr>
        <p:spPr>
          <a:xfrm>
            <a:off x="4572000" y="2788920"/>
            <a:ext cx="4297680" cy="1005840"/>
          </a:xfrm>
          <a:prstGeom prst="rect">
            <a:avLst/>
          </a:prstGeom>
          <a:solidFill>
            <a:srgbClr val="021E3F"/>
          </a:solidFill>
          <a:ln w="12700">
            <a:solidFill>
              <a:srgbClr val="021E3F"/>
            </a:solidFill>
            <a:prstDash val="solid"/>
          </a:ln>
        </p:spPr>
        <p:txBody>
          <a:bodyPr/>
          <a:lstStyle/>
          <a:p>
            <a:endParaRPr lang="es-CO"/>
          </a:p>
        </p:txBody>
      </p:sp>
      <p:sp>
        <p:nvSpPr>
          <p:cNvPr id="8" name="Text 5"/>
          <p:cNvSpPr/>
          <p:nvPr/>
        </p:nvSpPr>
        <p:spPr>
          <a:xfrm>
            <a:off x="4663440" y="2834640"/>
            <a:ext cx="4114800" cy="914400"/>
          </a:xfrm>
          <a:prstGeom prst="rect">
            <a:avLst/>
          </a:prstGeom>
          <a:noFill/>
          <a:ln/>
        </p:spPr>
        <p:txBody>
          <a:bodyPr wrap="square" rtlCol="0" anchor="ctr"/>
          <a:lstStyle/>
          <a:p>
            <a:pPr marL="0" indent="0" algn="ctr">
              <a:buNone/>
            </a:pPr>
            <a:r>
              <a:rPr lang="en-US" sz="1500" b="1" dirty="0">
                <a:solidFill>
                  <a:srgbClr val="02C39A"/>
                </a:solidFill>
              </a:rPr>
              <a:t>20% de clientes fumadores</a:t>
            </a:r>
            <a:endParaRPr lang="en-US" sz="1500" dirty="0"/>
          </a:p>
          <a:p>
            <a:pPr marL="0" indent="0" algn="ctr">
              <a:buNone/>
            </a:pPr>
            <a:r>
              <a:rPr lang="en-US" sz="1500" b="1" dirty="0">
                <a:solidFill>
                  <a:srgbClr val="02C39A"/>
                </a:solidFill>
              </a:rPr>
              <a:t>generan el 49.4% de los ingresos</a:t>
            </a:r>
            <a:endParaRPr lang="en-US" sz="1500" dirty="0"/>
          </a:p>
        </p:txBody>
      </p:sp>
      <p:sp>
        <p:nvSpPr>
          <p:cNvPr id="9" name="Shape 6"/>
          <p:cNvSpPr/>
          <p:nvPr/>
        </p:nvSpPr>
        <p:spPr>
          <a:xfrm>
            <a:off x="4572000" y="3913632"/>
            <a:ext cx="4297680" cy="914400"/>
          </a:xfrm>
          <a:prstGeom prst="rect">
            <a:avLst/>
          </a:prstGeom>
          <a:solidFill>
            <a:srgbClr val="FFFFFF"/>
          </a:solidFill>
          <a:ln w="12700">
            <a:solidFill>
              <a:srgbClr val="E2EAF0"/>
            </a:solidFill>
            <a:prstDash val="solid"/>
          </a:ln>
        </p:spPr>
        <p:txBody>
          <a:bodyPr/>
          <a:lstStyle/>
          <a:p>
            <a:endParaRPr lang="es-CO"/>
          </a:p>
        </p:txBody>
      </p:sp>
      <p:sp>
        <p:nvSpPr>
          <p:cNvPr id="10" name="Shape 7"/>
          <p:cNvSpPr/>
          <p:nvPr/>
        </p:nvSpPr>
        <p:spPr>
          <a:xfrm>
            <a:off x="4572000" y="3913632"/>
            <a:ext cx="64008" cy="914400"/>
          </a:xfrm>
          <a:prstGeom prst="rect">
            <a:avLst/>
          </a:prstGeom>
          <a:solidFill>
            <a:srgbClr val="02C39A"/>
          </a:solidFill>
          <a:ln w="12700">
            <a:solidFill>
              <a:srgbClr val="02C39A"/>
            </a:solidFill>
            <a:prstDash val="solid"/>
          </a:ln>
        </p:spPr>
        <p:txBody>
          <a:bodyPr/>
          <a:lstStyle/>
          <a:p>
            <a:endParaRPr lang="es-CO"/>
          </a:p>
        </p:txBody>
      </p:sp>
      <p:sp>
        <p:nvSpPr>
          <p:cNvPr id="11" name="Text 8"/>
          <p:cNvSpPr/>
          <p:nvPr/>
        </p:nvSpPr>
        <p:spPr>
          <a:xfrm>
            <a:off x="4754880" y="3977640"/>
            <a:ext cx="4023360" cy="786384"/>
          </a:xfrm>
          <a:prstGeom prst="rect">
            <a:avLst/>
          </a:prstGeom>
          <a:noFill/>
          <a:ln/>
        </p:spPr>
        <p:txBody>
          <a:bodyPr wrap="square" rtlCol="0" anchor="ctr"/>
          <a:lstStyle/>
          <a:p>
            <a:pPr marL="0" indent="0">
              <a:buNone/>
            </a:pPr>
            <a:r>
              <a:rPr lang="en-US" sz="1100" dirty="0">
                <a:solidFill>
                  <a:srgbClr val="64748B"/>
                </a:solidFill>
              </a:rPr>
              <a:t>Responde la Pregunta 1: sí, los fumadores son el mayor potencial comercial. Cada cliente fumador vale 4 veces más que uno no fumador.</a:t>
            </a:r>
            <a:endParaRPr lang="en-US" sz="1100" dirty="0"/>
          </a:p>
        </p:txBody>
      </p:sp>
      <p:pic>
        <p:nvPicPr>
          <p:cNvPr id="3074" name="Picture 2">
            <a:extLst>
              <a:ext uri="{FF2B5EF4-FFF2-40B4-BE49-F238E27FC236}">
                <a16:creationId xmlns:a16="http://schemas.microsoft.com/office/drawing/2014/main" id="{8E2E6369-FF9F-F71D-DA5F-4C5C65458D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 y="863282"/>
            <a:ext cx="3843285" cy="38512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A37F9-3730-6EBF-6477-5B1F01BD1EB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6543765-EDD7-94FB-515A-160A49202AE8}"/>
              </a:ext>
            </a:extLst>
          </p:cNvPr>
          <p:cNvSpPr/>
          <p:nvPr/>
        </p:nvSpPr>
        <p:spPr>
          <a:xfrm>
            <a:off x="0" y="0"/>
            <a:ext cx="9144000" cy="73152"/>
          </a:xfrm>
          <a:prstGeom prst="rect">
            <a:avLst/>
          </a:prstGeom>
          <a:solidFill>
            <a:srgbClr val="021E3F"/>
          </a:solidFill>
          <a:ln w="12700">
            <a:solidFill>
              <a:srgbClr val="021E3F"/>
            </a:solidFill>
            <a:prstDash val="solid"/>
          </a:ln>
        </p:spPr>
        <p:txBody>
          <a:bodyPr/>
          <a:lstStyle/>
          <a:p>
            <a:endParaRPr lang="es-CO"/>
          </a:p>
        </p:txBody>
      </p:sp>
      <p:sp>
        <p:nvSpPr>
          <p:cNvPr id="3" name="Text 1">
            <a:extLst>
              <a:ext uri="{FF2B5EF4-FFF2-40B4-BE49-F238E27FC236}">
                <a16:creationId xmlns:a16="http://schemas.microsoft.com/office/drawing/2014/main" id="{DF91BF10-54CB-8802-D9FD-407BCE2CBB69}"/>
              </a:ext>
            </a:extLst>
          </p:cNvPr>
          <p:cNvSpPr/>
          <p:nvPr/>
        </p:nvSpPr>
        <p:spPr>
          <a:xfrm>
            <a:off x="457200" y="164592"/>
            <a:ext cx="8229600" cy="457200"/>
          </a:xfrm>
          <a:prstGeom prst="rect">
            <a:avLst/>
          </a:prstGeom>
          <a:noFill/>
          <a:ln/>
        </p:spPr>
        <p:txBody>
          <a:bodyPr wrap="square" rtlCol="0" anchor="ctr"/>
          <a:lstStyle/>
          <a:p>
            <a:pPr marL="0" indent="0">
              <a:buNone/>
            </a:pPr>
            <a:r>
              <a:rPr lang="en-US" sz="2200" b="1" dirty="0" err="1">
                <a:solidFill>
                  <a:srgbClr val="021E3F"/>
                </a:solidFill>
              </a:rPr>
              <a:t>Grafico</a:t>
            </a:r>
            <a:r>
              <a:rPr lang="en-US" sz="2200" b="1" dirty="0">
                <a:solidFill>
                  <a:srgbClr val="021E3F"/>
                </a:solidFill>
              </a:rPr>
              <a:t> circular de rangos de edad — Figura 10</a:t>
            </a:r>
            <a:endParaRPr lang="en-US" sz="2200" dirty="0"/>
          </a:p>
        </p:txBody>
      </p:sp>
      <p:sp>
        <p:nvSpPr>
          <p:cNvPr id="44" name="Shape 42">
            <a:extLst>
              <a:ext uri="{FF2B5EF4-FFF2-40B4-BE49-F238E27FC236}">
                <a16:creationId xmlns:a16="http://schemas.microsoft.com/office/drawing/2014/main" id="{41B8A293-2131-FF43-E82C-17D27DD9B293}"/>
              </a:ext>
            </a:extLst>
          </p:cNvPr>
          <p:cNvSpPr/>
          <p:nvPr/>
        </p:nvSpPr>
        <p:spPr>
          <a:xfrm>
            <a:off x="4069080" y="749808"/>
            <a:ext cx="4754880" cy="2011680"/>
          </a:xfrm>
          <a:prstGeom prst="rect">
            <a:avLst/>
          </a:prstGeom>
          <a:solidFill>
            <a:srgbClr val="1E293B"/>
          </a:solidFill>
          <a:ln w="12700">
            <a:solidFill>
              <a:srgbClr val="1E293B"/>
            </a:solidFill>
            <a:prstDash val="solid"/>
          </a:ln>
        </p:spPr>
        <p:txBody>
          <a:bodyPr/>
          <a:lstStyle/>
          <a:p>
            <a:endParaRPr lang="es-CO"/>
          </a:p>
        </p:txBody>
      </p:sp>
      <p:sp>
        <p:nvSpPr>
          <p:cNvPr id="45" name="Text 43">
            <a:extLst>
              <a:ext uri="{FF2B5EF4-FFF2-40B4-BE49-F238E27FC236}">
                <a16:creationId xmlns:a16="http://schemas.microsoft.com/office/drawing/2014/main" id="{675DF41F-BEC8-298F-91F3-6B614D6ADD1B}"/>
              </a:ext>
            </a:extLst>
          </p:cNvPr>
          <p:cNvSpPr/>
          <p:nvPr/>
        </p:nvSpPr>
        <p:spPr>
          <a:xfrm>
            <a:off x="4183380" y="790956"/>
            <a:ext cx="4526280" cy="1920240"/>
          </a:xfrm>
          <a:prstGeom prst="rect">
            <a:avLst/>
          </a:prstGeom>
          <a:noFill/>
          <a:ln/>
        </p:spPr>
        <p:txBody>
          <a:bodyPr wrap="square" rtlCol="0" anchor="ctr"/>
          <a:lstStyle/>
          <a:p>
            <a:r>
              <a:rPr lang="es-CO" sz="1050" dirty="0" err="1">
                <a:solidFill>
                  <a:schemeClr val="accent6">
                    <a:lumMod val="40000"/>
                    <a:lumOff val="60000"/>
                  </a:schemeClr>
                </a:solidFill>
                <a:latin typeface="Consolas" panose="020B0609020204030204" pitchFamily="49" charset="0"/>
              </a:rPr>
              <a:t>total_rango_edad</a:t>
            </a:r>
            <a:r>
              <a:rPr lang="es-CO" sz="1050" dirty="0">
                <a:solidFill>
                  <a:schemeClr val="accent6">
                    <a:lumMod val="40000"/>
                    <a:lumOff val="60000"/>
                  </a:schemeClr>
                </a:solidFill>
                <a:latin typeface="Consolas" panose="020B0609020204030204" pitchFamily="49" charset="0"/>
              </a:rPr>
              <a:t> = df['rango_edad'].</a:t>
            </a:r>
            <a:r>
              <a:rPr lang="es-CO" sz="1050" dirty="0" err="1">
                <a:solidFill>
                  <a:schemeClr val="accent6">
                    <a:lumMod val="40000"/>
                    <a:lumOff val="60000"/>
                  </a:schemeClr>
                </a:solidFill>
                <a:latin typeface="Consolas" panose="020B0609020204030204" pitchFamily="49" charset="0"/>
              </a:rPr>
              <a:t>groupby</a:t>
            </a:r>
            <a:r>
              <a:rPr lang="es-CO" sz="1050" dirty="0">
                <a:solidFill>
                  <a:schemeClr val="accent6">
                    <a:lumMod val="40000"/>
                    <a:lumOff val="60000"/>
                  </a:schemeClr>
                </a:solidFill>
                <a:latin typeface="Consolas" panose="020B0609020204030204" pitchFamily="49" charset="0"/>
              </a:rPr>
              <a:t>(df['rango_edad']).</a:t>
            </a:r>
            <a:r>
              <a:rPr lang="es-CO" sz="1050" dirty="0" err="1">
                <a:solidFill>
                  <a:schemeClr val="accent6">
                    <a:lumMod val="40000"/>
                    <a:lumOff val="60000"/>
                  </a:schemeClr>
                </a:solidFill>
                <a:latin typeface="Consolas" panose="020B0609020204030204" pitchFamily="49" charset="0"/>
              </a:rPr>
              <a:t>count</a:t>
            </a:r>
            <a:r>
              <a:rPr lang="es-CO" sz="1050" dirty="0">
                <a:solidFill>
                  <a:schemeClr val="accent6">
                    <a:lumMod val="40000"/>
                    <a:lumOff val="60000"/>
                  </a:schemeClr>
                </a:solidFill>
                <a:latin typeface="Consolas" panose="020B0609020204030204" pitchFamily="49" charset="0"/>
              </a:rPr>
              <a:t>()</a:t>
            </a:r>
          </a:p>
          <a:p>
            <a:r>
              <a:rPr lang="es-CO" sz="1050" dirty="0">
                <a:solidFill>
                  <a:schemeClr val="accent6">
                    <a:lumMod val="40000"/>
                    <a:lumOff val="60000"/>
                  </a:schemeClr>
                </a:solidFill>
                <a:latin typeface="Consolas" panose="020B0609020204030204" pitchFamily="49" charset="0"/>
              </a:rPr>
              <a:t>labels = ["A (17-28)", "B (29-38)", "C (39-48)", "D (49-58)", "E (59-68)"]</a:t>
            </a:r>
          </a:p>
          <a:p>
            <a:r>
              <a:rPr lang="es-CO" sz="1050" dirty="0" err="1">
                <a:solidFill>
                  <a:schemeClr val="accent6">
                    <a:lumMod val="40000"/>
                    <a:lumOff val="60000"/>
                  </a:schemeClr>
                </a:solidFill>
                <a:latin typeface="Consolas" panose="020B0609020204030204" pitchFamily="49" charset="0"/>
              </a:rPr>
              <a:t>colors</a:t>
            </a:r>
            <a:r>
              <a:rPr lang="es-CO" sz="1050" dirty="0">
                <a:solidFill>
                  <a:schemeClr val="accent6">
                    <a:lumMod val="40000"/>
                    <a:lumOff val="60000"/>
                  </a:schemeClr>
                </a:solidFill>
                <a:latin typeface="Consolas" panose="020B0609020204030204" pitchFamily="49" charset="0"/>
              </a:rPr>
              <a:t> = </a:t>
            </a:r>
            <a:r>
              <a:rPr lang="es-CO" sz="1050" dirty="0" err="1">
                <a:solidFill>
                  <a:schemeClr val="accent6">
                    <a:lumMod val="40000"/>
                    <a:lumOff val="60000"/>
                  </a:schemeClr>
                </a:solidFill>
                <a:latin typeface="Consolas" panose="020B0609020204030204" pitchFamily="49" charset="0"/>
              </a:rPr>
              <a:t>sns.color_palette</a:t>
            </a:r>
            <a:r>
              <a:rPr lang="es-CO" sz="1050" dirty="0">
                <a:solidFill>
                  <a:schemeClr val="accent6">
                    <a:lumMod val="40000"/>
                    <a:lumOff val="60000"/>
                  </a:schemeClr>
                </a:solidFill>
                <a:latin typeface="Consolas" panose="020B0609020204030204" pitchFamily="49" charset="0"/>
              </a:rPr>
              <a:t>('Set2')[0:5]</a:t>
            </a:r>
          </a:p>
          <a:p>
            <a:br>
              <a:rPr lang="es-CO" sz="1050" dirty="0">
                <a:solidFill>
                  <a:schemeClr val="accent6">
                    <a:lumMod val="40000"/>
                    <a:lumOff val="60000"/>
                  </a:schemeClr>
                </a:solidFill>
                <a:latin typeface="Consolas" panose="020B0609020204030204" pitchFamily="49" charset="0"/>
              </a:rPr>
            </a:br>
            <a:endParaRPr lang="es-CO" sz="1050" dirty="0">
              <a:solidFill>
                <a:schemeClr val="accent6">
                  <a:lumMod val="40000"/>
                  <a:lumOff val="60000"/>
                </a:schemeClr>
              </a:solidFill>
              <a:latin typeface="Consolas" panose="020B0609020204030204" pitchFamily="49" charset="0"/>
            </a:endParaRPr>
          </a:p>
          <a:p>
            <a:r>
              <a:rPr lang="es-CO" sz="1050" dirty="0" err="1">
                <a:solidFill>
                  <a:schemeClr val="accent6">
                    <a:lumMod val="40000"/>
                    <a:lumOff val="60000"/>
                  </a:schemeClr>
                </a:solidFill>
                <a:latin typeface="Consolas" panose="020B0609020204030204" pitchFamily="49" charset="0"/>
              </a:rPr>
              <a:t>plt.pie</a:t>
            </a:r>
            <a:r>
              <a:rPr lang="es-CO" sz="1050" dirty="0">
                <a:solidFill>
                  <a:schemeClr val="accent6">
                    <a:lumMod val="40000"/>
                    <a:lumOff val="60000"/>
                  </a:schemeClr>
                </a:solidFill>
                <a:latin typeface="Consolas" panose="020B0609020204030204" pitchFamily="49" charset="0"/>
              </a:rPr>
              <a:t>(</a:t>
            </a:r>
            <a:r>
              <a:rPr lang="es-CO" sz="1050" dirty="0" err="1">
                <a:solidFill>
                  <a:schemeClr val="accent6">
                    <a:lumMod val="40000"/>
                    <a:lumOff val="60000"/>
                  </a:schemeClr>
                </a:solidFill>
                <a:latin typeface="Consolas" panose="020B0609020204030204" pitchFamily="49" charset="0"/>
              </a:rPr>
              <a:t>total_rango_edad</a:t>
            </a:r>
            <a:r>
              <a:rPr lang="es-CO" sz="1050" dirty="0">
                <a:solidFill>
                  <a:schemeClr val="accent6">
                    <a:lumMod val="40000"/>
                    <a:lumOff val="60000"/>
                  </a:schemeClr>
                </a:solidFill>
                <a:latin typeface="Consolas" panose="020B0609020204030204" pitchFamily="49" charset="0"/>
              </a:rPr>
              <a:t>, labels = labels, </a:t>
            </a:r>
            <a:r>
              <a:rPr lang="es-CO" sz="1050" dirty="0" err="1">
                <a:solidFill>
                  <a:schemeClr val="accent6">
                    <a:lumMod val="40000"/>
                    <a:lumOff val="60000"/>
                  </a:schemeClr>
                </a:solidFill>
                <a:latin typeface="Consolas" panose="020B0609020204030204" pitchFamily="49" charset="0"/>
              </a:rPr>
              <a:t>colors</a:t>
            </a:r>
            <a:r>
              <a:rPr lang="es-CO" sz="1050" dirty="0">
                <a:solidFill>
                  <a:schemeClr val="accent6">
                    <a:lumMod val="40000"/>
                    <a:lumOff val="60000"/>
                  </a:schemeClr>
                </a:solidFill>
                <a:latin typeface="Consolas" panose="020B0609020204030204" pitchFamily="49" charset="0"/>
              </a:rPr>
              <a:t> = </a:t>
            </a:r>
            <a:r>
              <a:rPr lang="es-CO" sz="1050" dirty="0" err="1">
                <a:solidFill>
                  <a:schemeClr val="accent6">
                    <a:lumMod val="40000"/>
                    <a:lumOff val="60000"/>
                  </a:schemeClr>
                </a:solidFill>
                <a:latin typeface="Consolas" panose="020B0609020204030204" pitchFamily="49" charset="0"/>
              </a:rPr>
              <a:t>colors</a:t>
            </a:r>
            <a:r>
              <a:rPr lang="es-CO" sz="1050" dirty="0">
                <a:solidFill>
                  <a:schemeClr val="accent6">
                    <a:lumMod val="40000"/>
                    <a:lumOff val="60000"/>
                  </a:schemeClr>
                </a:solidFill>
                <a:latin typeface="Consolas" panose="020B0609020204030204" pitchFamily="49" charset="0"/>
              </a:rPr>
              <a:t>, </a:t>
            </a:r>
            <a:r>
              <a:rPr lang="es-CO" sz="1050" dirty="0" err="1">
                <a:solidFill>
                  <a:schemeClr val="accent6">
                    <a:lumMod val="40000"/>
                    <a:lumOff val="60000"/>
                  </a:schemeClr>
                </a:solidFill>
                <a:latin typeface="Consolas" panose="020B0609020204030204" pitchFamily="49" charset="0"/>
              </a:rPr>
              <a:t>autopct</a:t>
            </a:r>
            <a:r>
              <a:rPr lang="es-CO" sz="1050" dirty="0">
                <a:solidFill>
                  <a:schemeClr val="accent6">
                    <a:lumMod val="40000"/>
                    <a:lumOff val="60000"/>
                  </a:schemeClr>
                </a:solidFill>
                <a:latin typeface="Consolas" panose="020B0609020204030204" pitchFamily="49" charset="0"/>
              </a:rPr>
              <a:t>='%.1f%%')</a:t>
            </a:r>
          </a:p>
          <a:p>
            <a:r>
              <a:rPr lang="es-CO" sz="1050" dirty="0">
                <a:solidFill>
                  <a:schemeClr val="accent6">
                    <a:lumMod val="40000"/>
                    <a:lumOff val="60000"/>
                  </a:schemeClr>
                </a:solidFill>
                <a:latin typeface="Consolas" panose="020B0609020204030204" pitchFamily="49" charset="0"/>
              </a:rPr>
              <a:t>plt.show()</a:t>
            </a:r>
          </a:p>
          <a:p>
            <a:pPr marL="0" indent="0">
              <a:buNone/>
            </a:pPr>
            <a:endParaRPr lang="en-US" sz="1100" dirty="0"/>
          </a:p>
        </p:txBody>
      </p:sp>
      <p:pic>
        <p:nvPicPr>
          <p:cNvPr id="4098" name="Picture 2">
            <a:extLst>
              <a:ext uri="{FF2B5EF4-FFF2-40B4-BE49-F238E27FC236}">
                <a16:creationId xmlns:a16="http://schemas.microsoft.com/office/drawing/2014/main" id="{767AEA11-C7AC-4B74-F8BD-52AB932BB0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566" y="981390"/>
            <a:ext cx="3605905" cy="3180719"/>
          </a:xfrm>
          <a:prstGeom prst="rect">
            <a:avLst/>
          </a:prstGeom>
          <a:noFill/>
          <a:extLst>
            <a:ext uri="{909E8E84-426E-40DD-AFC4-6F175D3DCCD1}">
              <a14:hiddenFill xmlns:a14="http://schemas.microsoft.com/office/drawing/2010/main">
                <a:solidFill>
                  <a:srgbClr val="FFFFFF"/>
                </a:solidFill>
              </a14:hiddenFill>
            </a:ext>
          </a:extLst>
        </p:spPr>
      </p:pic>
      <p:sp>
        <p:nvSpPr>
          <p:cNvPr id="49" name="Shape 28">
            <a:extLst>
              <a:ext uri="{FF2B5EF4-FFF2-40B4-BE49-F238E27FC236}">
                <a16:creationId xmlns:a16="http://schemas.microsoft.com/office/drawing/2014/main" id="{24823DDA-9D24-24CB-6C56-7CFCF3064800}"/>
              </a:ext>
            </a:extLst>
          </p:cNvPr>
          <p:cNvSpPr/>
          <p:nvPr/>
        </p:nvSpPr>
        <p:spPr>
          <a:xfrm>
            <a:off x="4069080" y="3050859"/>
            <a:ext cx="4206240" cy="1149350"/>
          </a:xfrm>
          <a:prstGeom prst="rect">
            <a:avLst/>
          </a:prstGeom>
          <a:solidFill>
            <a:srgbClr val="FFFFFF"/>
          </a:solidFill>
          <a:ln w="12700">
            <a:solidFill>
              <a:srgbClr val="E2EAF0"/>
            </a:solidFill>
            <a:prstDash val="solid"/>
          </a:ln>
        </p:spPr>
        <p:txBody>
          <a:bodyPr/>
          <a:lstStyle/>
          <a:p>
            <a:endParaRPr lang="es-CO"/>
          </a:p>
        </p:txBody>
      </p:sp>
      <p:sp>
        <p:nvSpPr>
          <p:cNvPr id="50" name="Shape 29">
            <a:extLst>
              <a:ext uri="{FF2B5EF4-FFF2-40B4-BE49-F238E27FC236}">
                <a16:creationId xmlns:a16="http://schemas.microsoft.com/office/drawing/2014/main" id="{E6259A38-FB70-47B8-05F6-DBEDD368D612}"/>
              </a:ext>
            </a:extLst>
          </p:cNvPr>
          <p:cNvSpPr/>
          <p:nvPr/>
        </p:nvSpPr>
        <p:spPr>
          <a:xfrm>
            <a:off x="4069080" y="3050859"/>
            <a:ext cx="64008" cy="1149350"/>
          </a:xfrm>
          <a:prstGeom prst="rect">
            <a:avLst/>
          </a:prstGeom>
          <a:solidFill>
            <a:srgbClr val="E24B4A"/>
          </a:solidFill>
          <a:ln w="12700">
            <a:solidFill>
              <a:srgbClr val="E24B4A"/>
            </a:solidFill>
            <a:prstDash val="solid"/>
          </a:ln>
        </p:spPr>
        <p:txBody>
          <a:bodyPr/>
          <a:lstStyle/>
          <a:p>
            <a:endParaRPr lang="es-CO"/>
          </a:p>
        </p:txBody>
      </p:sp>
      <p:sp>
        <p:nvSpPr>
          <p:cNvPr id="51" name="Text 30">
            <a:extLst>
              <a:ext uri="{FF2B5EF4-FFF2-40B4-BE49-F238E27FC236}">
                <a16:creationId xmlns:a16="http://schemas.microsoft.com/office/drawing/2014/main" id="{AAD7C000-646A-9463-8CF9-C835F0A102FD}"/>
              </a:ext>
            </a:extLst>
          </p:cNvPr>
          <p:cNvSpPr/>
          <p:nvPr/>
        </p:nvSpPr>
        <p:spPr>
          <a:xfrm>
            <a:off x="4242816" y="3050859"/>
            <a:ext cx="3931920" cy="1076198"/>
          </a:xfrm>
          <a:prstGeom prst="rect">
            <a:avLst/>
          </a:prstGeom>
          <a:noFill/>
          <a:ln/>
        </p:spPr>
        <p:txBody>
          <a:bodyPr wrap="square" rtlCol="0" anchor="ctr"/>
          <a:lstStyle/>
          <a:p>
            <a:pPr marL="0" indent="0">
              <a:buNone/>
            </a:pPr>
            <a:r>
              <a:rPr lang="en-US" sz="1200" b="1" dirty="0">
                <a:solidFill>
                  <a:srgbClr val="021E3F"/>
                </a:solidFill>
              </a:rPr>
              <a:t>¿Qué muestra?
</a:t>
            </a:r>
            <a:r>
              <a:rPr lang="en-US" sz="1050" dirty="0">
                <a:solidFill>
                  <a:srgbClr val="64748B"/>
                </a:solidFill>
              </a:rPr>
              <a:t>Distribución por rangos de edad de acuerdo a la agrupación por edad creada anteriormente.</a:t>
            </a:r>
            <a:endParaRPr lang="en-US" sz="1200" dirty="0"/>
          </a:p>
        </p:txBody>
      </p:sp>
    </p:spTree>
    <p:extLst>
      <p:ext uri="{BB962C8B-B14F-4D97-AF65-F5344CB8AC3E}">
        <p14:creationId xmlns:p14="http://schemas.microsoft.com/office/powerpoint/2010/main" val="3803981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1E3F"/>
          </a:solidFill>
          <a:ln w="12700">
            <a:solidFill>
              <a:srgbClr val="021E3F"/>
            </a:solidFill>
            <a:prstDash val="solid"/>
          </a:ln>
        </p:spPr>
        <p:txBody>
          <a:bodyPr/>
          <a:lstStyle/>
          <a:p>
            <a:endParaRPr lang="es-CO"/>
          </a:p>
        </p:txBody>
      </p:sp>
      <p:sp>
        <p:nvSpPr>
          <p:cNvPr id="3" name="Text 1"/>
          <p:cNvSpPr/>
          <p:nvPr/>
        </p:nvSpPr>
        <p:spPr>
          <a:xfrm>
            <a:off x="457200" y="164592"/>
            <a:ext cx="8229600" cy="457200"/>
          </a:xfrm>
          <a:prstGeom prst="rect">
            <a:avLst/>
          </a:prstGeom>
          <a:noFill/>
          <a:ln/>
        </p:spPr>
        <p:txBody>
          <a:bodyPr wrap="square" rtlCol="0" anchor="ctr"/>
          <a:lstStyle/>
          <a:p>
            <a:pPr marL="0" indent="0">
              <a:buNone/>
            </a:pPr>
            <a:r>
              <a:rPr lang="en-US" sz="2200" b="1" dirty="0">
                <a:solidFill>
                  <a:srgbClr val="021E3F"/>
                </a:solidFill>
              </a:rPr>
              <a:t>Mapa de Correlación (Heatmap) — Figura 10</a:t>
            </a:r>
            <a:endParaRPr lang="en-US" sz="2200" dirty="0"/>
          </a:p>
        </p:txBody>
      </p:sp>
      <p:sp>
        <p:nvSpPr>
          <p:cNvPr id="44" name="Shape 42"/>
          <p:cNvSpPr/>
          <p:nvPr/>
        </p:nvSpPr>
        <p:spPr>
          <a:xfrm>
            <a:off x="4069080" y="749808"/>
            <a:ext cx="4754880" cy="2011680"/>
          </a:xfrm>
          <a:prstGeom prst="rect">
            <a:avLst/>
          </a:prstGeom>
          <a:solidFill>
            <a:srgbClr val="1E293B"/>
          </a:solidFill>
          <a:ln w="12700">
            <a:solidFill>
              <a:srgbClr val="1E293B"/>
            </a:solidFill>
            <a:prstDash val="solid"/>
          </a:ln>
        </p:spPr>
        <p:txBody>
          <a:bodyPr/>
          <a:lstStyle/>
          <a:p>
            <a:endParaRPr lang="es-CO"/>
          </a:p>
        </p:txBody>
      </p:sp>
      <p:sp>
        <p:nvSpPr>
          <p:cNvPr id="45" name="Text 43"/>
          <p:cNvSpPr/>
          <p:nvPr/>
        </p:nvSpPr>
        <p:spPr>
          <a:xfrm>
            <a:off x="4206240" y="822960"/>
            <a:ext cx="4526280" cy="1828800"/>
          </a:xfrm>
          <a:prstGeom prst="rect">
            <a:avLst/>
          </a:prstGeom>
          <a:noFill/>
          <a:ln/>
        </p:spPr>
        <p:txBody>
          <a:bodyPr wrap="square" rtlCol="0" anchor="ctr"/>
          <a:lstStyle/>
          <a:p>
            <a:pPr marL="0" indent="0">
              <a:buNone/>
            </a:pPr>
            <a:r>
              <a:rPr lang="en-US" sz="1100" dirty="0">
                <a:solidFill>
                  <a:srgbClr val="A8D8A8"/>
                </a:solidFill>
                <a:latin typeface="Consolas" pitchFamily="34" charset="0"/>
                <a:ea typeface="Consolas" pitchFamily="34" charset="-122"/>
                <a:cs typeface="Consolas" pitchFamily="34" charset="-120"/>
              </a:rPr>
              <a:t>cols = df[['edad','imc',</a:t>
            </a:r>
            <a:endParaRPr lang="en-US" sz="1100" dirty="0"/>
          </a:p>
          <a:p>
            <a:pPr marL="0" indent="0">
              <a:buNone/>
            </a:pPr>
            <a:r>
              <a:rPr lang="en-US" sz="1100" dirty="0">
                <a:solidFill>
                  <a:srgbClr val="A8D8A8"/>
                </a:solidFill>
                <a:latin typeface="Consolas" pitchFamily="34" charset="0"/>
                <a:ea typeface="Consolas" pitchFamily="34" charset="-122"/>
                <a:cs typeface="Consolas" pitchFamily="34" charset="-120"/>
              </a:rPr>
              <a:t>          'hijos','valor_seguro']]</a:t>
            </a:r>
            <a:endParaRPr lang="en-US" sz="1100" dirty="0"/>
          </a:p>
          <a:p>
            <a:pPr marL="0" indent="0">
              <a:buNone/>
            </a:pPr>
            <a:r>
              <a:rPr lang="en-US" sz="1100" dirty="0">
                <a:solidFill>
                  <a:srgbClr val="A8D8A8"/>
                </a:solidFill>
                <a:latin typeface="Consolas" pitchFamily="34" charset="0"/>
                <a:ea typeface="Consolas" pitchFamily="34" charset="-122"/>
                <a:cs typeface="Consolas" pitchFamily="34" charset="-120"/>
              </a:rPr>
              <a:t>correlacion = cols.corr()</a:t>
            </a:r>
            <a:endParaRPr lang="en-US" sz="1100" dirty="0"/>
          </a:p>
          <a:p>
            <a:pPr marL="0" indent="0">
              <a:buNone/>
            </a:pPr>
            <a:endParaRPr lang="en-US" sz="1100" dirty="0"/>
          </a:p>
          <a:p>
            <a:pPr marL="0" indent="0">
              <a:buNone/>
            </a:pPr>
            <a:r>
              <a:rPr lang="en-US" sz="1100" dirty="0">
                <a:solidFill>
                  <a:srgbClr val="A8D8A8"/>
                </a:solidFill>
                <a:latin typeface="Consolas" pitchFamily="34" charset="0"/>
                <a:ea typeface="Consolas" pitchFamily="34" charset="-122"/>
                <a:cs typeface="Consolas" pitchFamily="34" charset="-120"/>
              </a:rPr>
              <a:t>sns.heatmap(</a:t>
            </a:r>
            <a:endParaRPr lang="en-US" sz="1100" dirty="0"/>
          </a:p>
          <a:p>
            <a:pPr marL="0" indent="0">
              <a:buNone/>
            </a:pPr>
            <a:r>
              <a:rPr lang="en-US" sz="1100" dirty="0">
                <a:solidFill>
                  <a:srgbClr val="A8D8A8"/>
                </a:solidFill>
                <a:latin typeface="Consolas" pitchFamily="34" charset="0"/>
                <a:ea typeface="Consolas" pitchFamily="34" charset="-122"/>
                <a:cs typeface="Consolas" pitchFamily="34" charset="-120"/>
              </a:rPr>
              <a:t>  correlacion,</a:t>
            </a:r>
            <a:endParaRPr lang="en-US" sz="1100" dirty="0"/>
          </a:p>
          <a:p>
            <a:pPr marL="0" indent="0">
              <a:buNone/>
            </a:pPr>
            <a:r>
              <a:rPr lang="en-US" sz="1100" dirty="0">
                <a:solidFill>
                  <a:srgbClr val="A8D8A8"/>
                </a:solidFill>
                <a:latin typeface="Consolas" pitchFamily="34" charset="0"/>
                <a:ea typeface="Consolas" pitchFamily="34" charset="-122"/>
                <a:cs typeface="Consolas" pitchFamily="34" charset="-120"/>
              </a:rPr>
              <a:t>  xticklabels=correlacion.columns,</a:t>
            </a:r>
            <a:endParaRPr lang="en-US" sz="1100" dirty="0"/>
          </a:p>
          <a:p>
            <a:pPr marL="0" indent="0">
              <a:buNone/>
            </a:pPr>
            <a:r>
              <a:rPr lang="en-US" sz="1100" dirty="0">
                <a:solidFill>
                  <a:srgbClr val="A8D8A8"/>
                </a:solidFill>
                <a:latin typeface="Consolas" pitchFamily="34" charset="0"/>
                <a:ea typeface="Consolas" pitchFamily="34" charset="-122"/>
                <a:cs typeface="Consolas" pitchFamily="34" charset="-120"/>
              </a:rPr>
              <a:t>  yticklabels=correlacion.columns,</a:t>
            </a:r>
            <a:endParaRPr lang="en-US" sz="1100" dirty="0"/>
          </a:p>
          <a:p>
            <a:pPr marL="0" indent="0">
              <a:buNone/>
            </a:pPr>
            <a:r>
              <a:rPr lang="en-US" sz="1100" dirty="0">
                <a:solidFill>
                  <a:srgbClr val="A8D8A8"/>
                </a:solidFill>
                <a:latin typeface="Consolas" pitchFamily="34" charset="0"/>
                <a:ea typeface="Consolas" pitchFamily="34" charset="-122"/>
                <a:cs typeface="Consolas" pitchFamily="34" charset="-120"/>
              </a:rPr>
              <a:t>  annot=True)</a:t>
            </a:r>
            <a:endParaRPr lang="en-US" sz="1100" dirty="0"/>
          </a:p>
        </p:txBody>
      </p:sp>
      <p:sp>
        <p:nvSpPr>
          <p:cNvPr id="46" name="Shape 44"/>
          <p:cNvSpPr/>
          <p:nvPr/>
        </p:nvSpPr>
        <p:spPr>
          <a:xfrm>
            <a:off x="4069080" y="2880360"/>
            <a:ext cx="4754880" cy="1920240"/>
          </a:xfrm>
          <a:prstGeom prst="rect">
            <a:avLst/>
          </a:prstGeom>
          <a:solidFill>
            <a:srgbClr val="FFFFFF"/>
          </a:solidFill>
          <a:ln w="12700">
            <a:solidFill>
              <a:srgbClr val="E2EAF0"/>
            </a:solidFill>
            <a:prstDash val="solid"/>
          </a:ln>
        </p:spPr>
        <p:txBody>
          <a:bodyPr/>
          <a:lstStyle/>
          <a:p>
            <a:endParaRPr lang="es-CO"/>
          </a:p>
        </p:txBody>
      </p:sp>
      <p:sp>
        <p:nvSpPr>
          <p:cNvPr id="47" name="Shape 45"/>
          <p:cNvSpPr/>
          <p:nvPr/>
        </p:nvSpPr>
        <p:spPr>
          <a:xfrm>
            <a:off x="4069080" y="2880360"/>
            <a:ext cx="64008" cy="1920240"/>
          </a:xfrm>
          <a:prstGeom prst="rect">
            <a:avLst/>
          </a:prstGeom>
          <a:solidFill>
            <a:srgbClr val="028090"/>
          </a:solidFill>
          <a:ln w="12700">
            <a:solidFill>
              <a:srgbClr val="028090"/>
            </a:solidFill>
            <a:prstDash val="solid"/>
          </a:ln>
        </p:spPr>
        <p:txBody>
          <a:bodyPr/>
          <a:lstStyle/>
          <a:p>
            <a:endParaRPr lang="es-CO"/>
          </a:p>
        </p:txBody>
      </p:sp>
      <p:sp>
        <p:nvSpPr>
          <p:cNvPr id="48" name="Text 46"/>
          <p:cNvSpPr/>
          <p:nvPr/>
        </p:nvSpPr>
        <p:spPr>
          <a:xfrm>
            <a:off x="4251960" y="2971800"/>
            <a:ext cx="4480560" cy="1737360"/>
          </a:xfrm>
          <a:prstGeom prst="rect">
            <a:avLst/>
          </a:prstGeom>
          <a:noFill/>
          <a:ln/>
        </p:spPr>
        <p:txBody>
          <a:bodyPr wrap="square" rtlCol="0" anchor="ctr"/>
          <a:lstStyle/>
          <a:p>
            <a:pPr marL="0" indent="0">
              <a:buNone/>
            </a:pPr>
            <a:r>
              <a:rPr lang="en-US" sz="1200" b="1" dirty="0">
                <a:solidFill>
                  <a:srgbClr val="021E3F"/>
                </a:solidFill>
              </a:rPr>
              <a:t>Correlación con valor_seguro:
</a:t>
            </a:r>
            <a:r>
              <a:rPr lang="en-US" sz="1200" b="1" dirty="0">
                <a:solidFill>
                  <a:srgbClr val="7030A0"/>
                </a:solidFill>
              </a:rPr>
              <a:t>edad: 0.30  ←  mayor relación</a:t>
            </a:r>
            <a:r>
              <a:rPr lang="en-US" sz="1200" b="1" dirty="0">
                <a:solidFill>
                  <a:srgbClr val="E24B4A"/>
                </a:solidFill>
              </a:rPr>
              <a:t>
</a:t>
            </a:r>
            <a:r>
              <a:rPr lang="en-US" sz="1200" dirty="0">
                <a:solidFill>
                  <a:srgbClr val="028090"/>
                </a:solidFill>
              </a:rPr>
              <a:t>imc: 0.20  ←  segunda mayor
</a:t>
            </a:r>
            <a:r>
              <a:rPr lang="en-US" sz="1200" dirty="0">
                <a:solidFill>
                  <a:srgbClr val="64748B"/>
                </a:solidFill>
              </a:rPr>
              <a:t>hijos: 0.065  ←  relación débil</a:t>
            </a:r>
            <a:endParaRPr lang="en-US" sz="1200" dirty="0"/>
          </a:p>
        </p:txBody>
      </p:sp>
      <p:pic>
        <p:nvPicPr>
          <p:cNvPr id="5122" name="Picture 2">
            <a:extLst>
              <a:ext uri="{FF2B5EF4-FFF2-40B4-BE49-F238E27FC236}">
                <a16:creationId xmlns:a16="http://schemas.microsoft.com/office/drawing/2014/main" id="{7F91A8D4-6EFE-AF59-BE45-CBF19CA2B3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75" y="1083538"/>
            <a:ext cx="3667125" cy="29764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1E3F"/>
          </a:solidFill>
          <a:ln w="12700">
            <a:solidFill>
              <a:srgbClr val="021E3F"/>
            </a:solidFill>
            <a:prstDash val="solid"/>
          </a:ln>
        </p:spPr>
        <p:txBody>
          <a:bodyPr/>
          <a:lstStyle/>
          <a:p>
            <a:endParaRPr lang="es-CO"/>
          </a:p>
        </p:txBody>
      </p:sp>
      <p:sp>
        <p:nvSpPr>
          <p:cNvPr id="3" name="Text 1"/>
          <p:cNvSpPr/>
          <p:nvPr/>
        </p:nvSpPr>
        <p:spPr>
          <a:xfrm>
            <a:off x="457200" y="164592"/>
            <a:ext cx="8229600" cy="457200"/>
          </a:xfrm>
          <a:prstGeom prst="rect">
            <a:avLst/>
          </a:prstGeom>
          <a:noFill/>
          <a:ln/>
        </p:spPr>
        <p:txBody>
          <a:bodyPr wrap="square" rtlCol="0" anchor="ctr"/>
          <a:lstStyle/>
          <a:p>
            <a:pPr marL="0" indent="0">
              <a:buNone/>
            </a:pPr>
            <a:r>
              <a:rPr lang="en-US" sz="2200" b="1" dirty="0">
                <a:solidFill>
                  <a:srgbClr val="021E3F"/>
                </a:solidFill>
              </a:rPr>
              <a:t>Gráfica de Dispersión (Scatter) — Figuras 11 y 12</a:t>
            </a:r>
            <a:endParaRPr lang="en-US" sz="2200" dirty="0"/>
          </a:p>
        </p:txBody>
      </p:sp>
      <p:sp>
        <p:nvSpPr>
          <p:cNvPr id="4" name="Shape 2"/>
          <p:cNvSpPr/>
          <p:nvPr/>
        </p:nvSpPr>
        <p:spPr>
          <a:xfrm>
            <a:off x="287020" y="749427"/>
            <a:ext cx="4023360" cy="4069080"/>
          </a:xfrm>
          <a:prstGeom prst="rect">
            <a:avLst/>
          </a:prstGeom>
          <a:solidFill>
            <a:srgbClr val="FFFFFF"/>
          </a:solidFill>
          <a:ln w="12700">
            <a:solidFill>
              <a:srgbClr val="E2EAF0"/>
            </a:solidFill>
            <a:prstDash val="solid"/>
          </a:ln>
        </p:spPr>
        <p:txBody>
          <a:bodyPr/>
          <a:lstStyle/>
          <a:p>
            <a:endParaRPr lang="es-CO"/>
          </a:p>
        </p:txBody>
      </p:sp>
      <p:sp>
        <p:nvSpPr>
          <p:cNvPr id="5" name="Shape 3"/>
          <p:cNvSpPr/>
          <p:nvPr/>
        </p:nvSpPr>
        <p:spPr>
          <a:xfrm>
            <a:off x="274320" y="749808"/>
            <a:ext cx="4023360" cy="347472"/>
          </a:xfrm>
          <a:prstGeom prst="rect">
            <a:avLst/>
          </a:prstGeom>
          <a:solidFill>
            <a:srgbClr val="021E3F"/>
          </a:solidFill>
          <a:ln w="12700">
            <a:solidFill>
              <a:srgbClr val="021E3F"/>
            </a:solidFill>
            <a:prstDash val="solid"/>
          </a:ln>
        </p:spPr>
        <p:txBody>
          <a:bodyPr/>
          <a:lstStyle/>
          <a:p>
            <a:endParaRPr lang="es-CO"/>
          </a:p>
        </p:txBody>
      </p:sp>
      <p:sp>
        <p:nvSpPr>
          <p:cNvPr id="6" name="Text 4"/>
          <p:cNvSpPr/>
          <p:nvPr/>
        </p:nvSpPr>
        <p:spPr>
          <a:xfrm>
            <a:off x="365760" y="768096"/>
            <a:ext cx="3840480" cy="310896"/>
          </a:xfrm>
          <a:prstGeom prst="rect">
            <a:avLst/>
          </a:prstGeom>
          <a:noFill/>
          <a:ln/>
        </p:spPr>
        <p:txBody>
          <a:bodyPr wrap="square" rtlCol="0" anchor="ctr"/>
          <a:lstStyle/>
          <a:p>
            <a:pPr marL="0" indent="0">
              <a:buNone/>
            </a:pPr>
            <a:r>
              <a:rPr lang="en-US" sz="1200" b="1" dirty="0">
                <a:solidFill>
                  <a:srgbClr val="FFFFFF"/>
                </a:solidFill>
              </a:rPr>
              <a:t>Figura 11 — Edad + IMC</a:t>
            </a:r>
            <a:endParaRPr lang="en-US" sz="1200" dirty="0"/>
          </a:p>
        </p:txBody>
      </p:sp>
      <p:sp>
        <p:nvSpPr>
          <p:cNvPr id="7" name="Shape 5"/>
          <p:cNvSpPr/>
          <p:nvPr/>
        </p:nvSpPr>
        <p:spPr>
          <a:xfrm>
            <a:off x="411480" y="1188720"/>
            <a:ext cx="3749040" cy="386080"/>
          </a:xfrm>
          <a:prstGeom prst="rect">
            <a:avLst/>
          </a:prstGeom>
          <a:solidFill>
            <a:srgbClr val="1E293B"/>
          </a:solidFill>
          <a:ln w="12700">
            <a:solidFill>
              <a:srgbClr val="1E293B"/>
            </a:solidFill>
            <a:prstDash val="solid"/>
          </a:ln>
        </p:spPr>
        <p:txBody>
          <a:bodyPr/>
          <a:lstStyle/>
          <a:p>
            <a:endParaRPr lang="es-CO"/>
          </a:p>
        </p:txBody>
      </p:sp>
      <p:sp>
        <p:nvSpPr>
          <p:cNvPr id="8" name="Text 6"/>
          <p:cNvSpPr/>
          <p:nvPr/>
        </p:nvSpPr>
        <p:spPr>
          <a:xfrm>
            <a:off x="438912" y="1234440"/>
            <a:ext cx="3630168" cy="340360"/>
          </a:xfrm>
          <a:prstGeom prst="rect">
            <a:avLst/>
          </a:prstGeom>
          <a:noFill/>
          <a:ln/>
        </p:spPr>
        <p:txBody>
          <a:bodyPr wrap="square" rtlCol="0" anchor="ctr"/>
          <a:lstStyle/>
          <a:p>
            <a:pPr marL="0" indent="0">
              <a:buNone/>
            </a:pPr>
            <a:r>
              <a:rPr lang="en-US" sz="1050" dirty="0">
                <a:solidFill>
                  <a:srgbClr val="A8D8A8"/>
                </a:solidFill>
                <a:latin typeface="Consolas" pitchFamily="34" charset="0"/>
                <a:ea typeface="Consolas" pitchFamily="34" charset="-122"/>
                <a:cs typeface="Consolas" pitchFamily="34" charset="-120"/>
              </a:rPr>
              <a:t>sns.relplot(x='rango_edad',y='valor_seguro’,</a:t>
            </a:r>
          </a:p>
          <a:p>
            <a:pPr marL="0" indent="0">
              <a:buNone/>
            </a:pPr>
            <a:r>
              <a:rPr lang="en-US" sz="1050" dirty="0">
                <a:solidFill>
                  <a:srgbClr val="A8D8A8"/>
                </a:solidFill>
                <a:latin typeface="Consolas" pitchFamily="34" charset="0"/>
                <a:ea typeface="Consolas" pitchFamily="34" charset="-122"/>
                <a:cs typeface="Consolas" pitchFamily="34" charset="-120"/>
              </a:rPr>
              <a:t>hue='imc',data=df)</a:t>
            </a:r>
            <a:endParaRPr lang="en-US" sz="1050" dirty="0"/>
          </a:p>
        </p:txBody>
      </p:sp>
      <p:sp>
        <p:nvSpPr>
          <p:cNvPr id="9" name="Text 7"/>
          <p:cNvSpPr/>
          <p:nvPr/>
        </p:nvSpPr>
        <p:spPr>
          <a:xfrm>
            <a:off x="320040" y="4404614"/>
            <a:ext cx="3749040" cy="386080"/>
          </a:xfrm>
          <a:prstGeom prst="rect">
            <a:avLst/>
          </a:prstGeom>
          <a:noFill/>
          <a:ln/>
        </p:spPr>
        <p:txBody>
          <a:bodyPr wrap="square" rtlCol="0" anchor="ctr"/>
          <a:lstStyle/>
          <a:p>
            <a:pPr marL="0" indent="0" algn="ctr">
              <a:buNone/>
            </a:pPr>
            <a:r>
              <a:rPr lang="en-US" sz="900" dirty="0">
                <a:solidFill>
                  <a:srgbClr val="64748B"/>
                </a:solidFill>
              </a:rPr>
              <a:t>Los puntos más oscuros (IMC alto, 40–48) están en los valores más altos del seguro en todos los rangos de edad. El IMC eleva el precio del seguro independientemente de la edad.</a:t>
            </a:r>
            <a:endParaRPr lang="en-US" sz="900" dirty="0"/>
          </a:p>
        </p:txBody>
      </p:sp>
      <p:sp>
        <p:nvSpPr>
          <p:cNvPr id="10" name="Shape 8"/>
          <p:cNvSpPr/>
          <p:nvPr/>
        </p:nvSpPr>
        <p:spPr>
          <a:xfrm>
            <a:off x="4846320" y="749808"/>
            <a:ext cx="4023360" cy="4069080"/>
          </a:xfrm>
          <a:prstGeom prst="rect">
            <a:avLst/>
          </a:prstGeom>
          <a:solidFill>
            <a:srgbClr val="FFFFFF"/>
          </a:solidFill>
          <a:ln w="12700">
            <a:solidFill>
              <a:srgbClr val="E2EAF0"/>
            </a:solidFill>
            <a:prstDash val="solid"/>
          </a:ln>
        </p:spPr>
        <p:txBody>
          <a:bodyPr/>
          <a:lstStyle/>
          <a:p>
            <a:endParaRPr lang="es-CO"/>
          </a:p>
        </p:txBody>
      </p:sp>
      <p:sp>
        <p:nvSpPr>
          <p:cNvPr id="11" name="Shape 9"/>
          <p:cNvSpPr/>
          <p:nvPr/>
        </p:nvSpPr>
        <p:spPr>
          <a:xfrm>
            <a:off x="4846320" y="749808"/>
            <a:ext cx="4023360" cy="347472"/>
          </a:xfrm>
          <a:prstGeom prst="rect">
            <a:avLst/>
          </a:prstGeom>
          <a:solidFill>
            <a:srgbClr val="028090"/>
          </a:solidFill>
          <a:ln w="12700">
            <a:solidFill>
              <a:srgbClr val="028090"/>
            </a:solidFill>
            <a:prstDash val="solid"/>
          </a:ln>
        </p:spPr>
        <p:txBody>
          <a:bodyPr/>
          <a:lstStyle/>
          <a:p>
            <a:endParaRPr lang="es-CO"/>
          </a:p>
        </p:txBody>
      </p:sp>
      <p:sp>
        <p:nvSpPr>
          <p:cNvPr id="12" name="Text 10"/>
          <p:cNvSpPr/>
          <p:nvPr/>
        </p:nvSpPr>
        <p:spPr>
          <a:xfrm>
            <a:off x="4937760" y="768096"/>
            <a:ext cx="3840480" cy="310896"/>
          </a:xfrm>
          <a:prstGeom prst="rect">
            <a:avLst/>
          </a:prstGeom>
          <a:noFill/>
          <a:ln/>
        </p:spPr>
        <p:txBody>
          <a:bodyPr wrap="square" rtlCol="0" anchor="ctr"/>
          <a:lstStyle/>
          <a:p>
            <a:pPr marL="0" indent="0">
              <a:buNone/>
            </a:pPr>
            <a:r>
              <a:rPr lang="en-US" sz="1200" b="1" dirty="0">
                <a:solidFill>
                  <a:srgbClr val="FFFFFF"/>
                </a:solidFill>
              </a:rPr>
              <a:t>Figura 12 — Edad + Fumador</a:t>
            </a:r>
            <a:endParaRPr lang="en-US" sz="1200" dirty="0"/>
          </a:p>
        </p:txBody>
      </p:sp>
      <p:sp>
        <p:nvSpPr>
          <p:cNvPr id="13" name="Shape 11"/>
          <p:cNvSpPr/>
          <p:nvPr/>
        </p:nvSpPr>
        <p:spPr>
          <a:xfrm>
            <a:off x="4983480" y="1188720"/>
            <a:ext cx="3749040" cy="386080"/>
          </a:xfrm>
          <a:prstGeom prst="rect">
            <a:avLst/>
          </a:prstGeom>
          <a:solidFill>
            <a:srgbClr val="1E293B"/>
          </a:solidFill>
          <a:ln w="12700">
            <a:solidFill>
              <a:srgbClr val="1E293B"/>
            </a:solidFill>
            <a:prstDash val="solid"/>
          </a:ln>
        </p:spPr>
        <p:txBody>
          <a:bodyPr/>
          <a:lstStyle/>
          <a:p>
            <a:endParaRPr lang="es-CO"/>
          </a:p>
        </p:txBody>
      </p:sp>
      <p:sp>
        <p:nvSpPr>
          <p:cNvPr id="14" name="Text 12"/>
          <p:cNvSpPr/>
          <p:nvPr/>
        </p:nvSpPr>
        <p:spPr>
          <a:xfrm>
            <a:off x="5120640" y="1234440"/>
            <a:ext cx="3520440" cy="340360"/>
          </a:xfrm>
          <a:prstGeom prst="rect">
            <a:avLst/>
          </a:prstGeom>
          <a:noFill/>
          <a:ln/>
        </p:spPr>
        <p:txBody>
          <a:bodyPr wrap="square" rtlCol="0" anchor="ctr"/>
          <a:lstStyle/>
          <a:p>
            <a:pPr marL="0" indent="0">
              <a:buNone/>
            </a:pPr>
            <a:r>
              <a:rPr lang="en-US" sz="1050" dirty="0">
                <a:solidFill>
                  <a:srgbClr val="A8D8A8"/>
                </a:solidFill>
                <a:latin typeface="Consolas" pitchFamily="34" charset="0"/>
                <a:ea typeface="Consolas" pitchFamily="34" charset="-122"/>
                <a:cs typeface="Consolas" pitchFamily="34" charset="-120"/>
              </a:rPr>
              <a:t>sns.relplot(x='</a:t>
            </a:r>
            <a:r>
              <a:rPr lang="en-US" sz="1050" dirty="0" err="1">
                <a:solidFill>
                  <a:srgbClr val="A8D8A8"/>
                </a:solidFill>
                <a:latin typeface="Consolas" pitchFamily="34" charset="0"/>
                <a:ea typeface="Consolas" pitchFamily="34" charset="-122"/>
                <a:cs typeface="Consolas" pitchFamily="34" charset="-120"/>
              </a:rPr>
              <a:t>rango_edad',y</a:t>
            </a:r>
            <a:r>
              <a:rPr lang="en-US" sz="1050" dirty="0">
                <a:solidFill>
                  <a:srgbClr val="A8D8A8"/>
                </a:solidFill>
                <a:latin typeface="Consolas" pitchFamily="34" charset="0"/>
                <a:ea typeface="Consolas" pitchFamily="34" charset="-122"/>
                <a:cs typeface="Consolas" pitchFamily="34" charset="-120"/>
              </a:rPr>
              <a:t>='valor_seguro’,</a:t>
            </a:r>
          </a:p>
          <a:p>
            <a:pPr marL="0" indent="0">
              <a:buNone/>
            </a:pPr>
            <a:r>
              <a:rPr lang="en-US" sz="1050" dirty="0">
                <a:solidFill>
                  <a:srgbClr val="A8D8A8"/>
                </a:solidFill>
                <a:latin typeface="Consolas" pitchFamily="34" charset="0"/>
                <a:ea typeface="Consolas" pitchFamily="34" charset="-122"/>
                <a:cs typeface="Consolas" pitchFamily="34" charset="-120"/>
              </a:rPr>
              <a:t>hue='</a:t>
            </a:r>
            <a:r>
              <a:rPr lang="en-US" sz="1050" dirty="0" err="1">
                <a:solidFill>
                  <a:srgbClr val="A8D8A8"/>
                </a:solidFill>
                <a:latin typeface="Consolas" pitchFamily="34" charset="0"/>
                <a:ea typeface="Consolas" pitchFamily="34" charset="-122"/>
                <a:cs typeface="Consolas" pitchFamily="34" charset="-120"/>
              </a:rPr>
              <a:t>fumador</a:t>
            </a:r>
            <a:r>
              <a:rPr lang="en-US" sz="1050" dirty="0">
                <a:solidFill>
                  <a:srgbClr val="A8D8A8"/>
                </a:solidFill>
                <a:latin typeface="Consolas" pitchFamily="34" charset="0"/>
                <a:ea typeface="Consolas" pitchFamily="34" charset="-122"/>
                <a:cs typeface="Consolas" pitchFamily="34" charset="-120"/>
              </a:rPr>
              <a:t>',data=df)</a:t>
            </a:r>
            <a:endParaRPr lang="en-US" sz="1050" dirty="0"/>
          </a:p>
        </p:txBody>
      </p:sp>
      <p:sp>
        <p:nvSpPr>
          <p:cNvPr id="15" name="Text 13"/>
          <p:cNvSpPr/>
          <p:nvPr/>
        </p:nvSpPr>
        <p:spPr>
          <a:xfrm>
            <a:off x="5006340" y="4406646"/>
            <a:ext cx="3749040" cy="386080"/>
          </a:xfrm>
          <a:prstGeom prst="rect">
            <a:avLst/>
          </a:prstGeom>
          <a:noFill/>
          <a:ln/>
        </p:spPr>
        <p:txBody>
          <a:bodyPr wrap="square" rtlCol="0" anchor="ctr"/>
          <a:lstStyle/>
          <a:p>
            <a:pPr marL="0" indent="0" algn="ctr">
              <a:buNone/>
            </a:pPr>
            <a:r>
              <a:rPr lang="en-US" sz="900" dirty="0">
                <a:solidFill>
                  <a:srgbClr val="64748B"/>
                </a:solidFill>
              </a:rPr>
              <a:t>En todos los grupos etarios A, B, C, D y E, los puntos </a:t>
            </a:r>
            <a:r>
              <a:rPr lang="en-US" sz="900" dirty="0" err="1">
                <a:solidFill>
                  <a:srgbClr val="64748B"/>
                </a:solidFill>
              </a:rPr>
              <a:t>azules</a:t>
            </a:r>
            <a:r>
              <a:rPr lang="en-US" sz="900" dirty="0">
                <a:solidFill>
                  <a:srgbClr val="64748B"/>
                </a:solidFill>
              </a:rPr>
              <a:t> (fumadores) están siempre en la parte superior. Confirma que ser fumador eleva el seguro sin importar la edad.</a:t>
            </a:r>
            <a:endParaRPr lang="en-US" sz="900" dirty="0"/>
          </a:p>
        </p:txBody>
      </p:sp>
      <p:sp>
        <p:nvSpPr>
          <p:cNvPr id="16" name="Shape 14"/>
          <p:cNvSpPr/>
          <p:nvPr/>
        </p:nvSpPr>
        <p:spPr>
          <a:xfrm>
            <a:off x="274320" y="4873752"/>
            <a:ext cx="8595360" cy="182880"/>
          </a:xfrm>
          <a:prstGeom prst="rect">
            <a:avLst/>
          </a:prstGeom>
          <a:solidFill>
            <a:srgbClr val="E2EAF0"/>
          </a:solidFill>
          <a:ln w="12700">
            <a:solidFill>
              <a:srgbClr val="E2EAF0"/>
            </a:solidFill>
            <a:prstDash val="solid"/>
          </a:ln>
        </p:spPr>
        <p:txBody>
          <a:bodyPr/>
          <a:lstStyle/>
          <a:p>
            <a:endParaRPr lang="es-CO"/>
          </a:p>
        </p:txBody>
      </p:sp>
      <p:sp>
        <p:nvSpPr>
          <p:cNvPr id="17" name="Text 15"/>
          <p:cNvSpPr/>
          <p:nvPr/>
        </p:nvSpPr>
        <p:spPr>
          <a:xfrm>
            <a:off x="365760" y="4846320"/>
            <a:ext cx="8412480" cy="228600"/>
          </a:xfrm>
          <a:prstGeom prst="rect">
            <a:avLst/>
          </a:prstGeom>
          <a:noFill/>
          <a:ln/>
        </p:spPr>
        <p:txBody>
          <a:bodyPr wrap="square" rtlCol="0" anchor="ctr"/>
          <a:lstStyle/>
          <a:p>
            <a:pPr marL="0" indent="0" algn="ctr">
              <a:buNone/>
            </a:pPr>
            <a:r>
              <a:rPr lang="en-US" sz="950" i="1" dirty="0">
                <a:solidFill>
                  <a:srgbClr val="64748B"/>
                </a:solidFill>
              </a:rPr>
              <a:t>relplot() es una función de alto nivel de seaborn — crea el lienzo automáticamente y permite cruzar 3 variables simultáneamente usando posición (x,y) y color (hue)</a:t>
            </a:r>
            <a:endParaRPr lang="en-US" sz="950" dirty="0"/>
          </a:p>
        </p:txBody>
      </p:sp>
      <p:pic>
        <p:nvPicPr>
          <p:cNvPr id="6146" name="Picture 2">
            <a:extLst>
              <a:ext uri="{FF2B5EF4-FFF2-40B4-BE49-F238E27FC236}">
                <a16:creationId xmlns:a16="http://schemas.microsoft.com/office/drawing/2014/main" id="{89BC699E-CCC9-BF56-7F86-13B7D2C6B0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635" y="1619517"/>
            <a:ext cx="3117849" cy="2757665"/>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E064A762-10E4-FA6D-D4EB-FFA46C557C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15109" y="1585601"/>
            <a:ext cx="3131502" cy="274496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1E3F"/>
          </a:solidFill>
          <a:ln w="12700">
            <a:solidFill>
              <a:srgbClr val="021E3F"/>
            </a:solidFill>
            <a:prstDash val="solid"/>
          </a:ln>
        </p:spPr>
        <p:txBody>
          <a:bodyPr/>
          <a:lstStyle/>
          <a:p>
            <a:endParaRPr lang="es-CO"/>
          </a:p>
        </p:txBody>
      </p:sp>
      <p:sp>
        <p:nvSpPr>
          <p:cNvPr id="3" name="Text 1"/>
          <p:cNvSpPr/>
          <p:nvPr/>
        </p:nvSpPr>
        <p:spPr>
          <a:xfrm>
            <a:off x="457200" y="164592"/>
            <a:ext cx="8229600" cy="457200"/>
          </a:xfrm>
          <a:prstGeom prst="rect">
            <a:avLst/>
          </a:prstGeom>
          <a:noFill/>
          <a:ln/>
        </p:spPr>
        <p:txBody>
          <a:bodyPr wrap="square" rtlCol="0" anchor="ctr"/>
          <a:lstStyle/>
          <a:p>
            <a:pPr marL="0" indent="0">
              <a:buNone/>
            </a:pPr>
            <a:r>
              <a:rPr lang="en-US" sz="2100" b="1" dirty="0">
                <a:solidFill>
                  <a:srgbClr val="021E3F"/>
                </a:solidFill>
              </a:rPr>
              <a:t>Gráfica de Barras Agrupadas (Barplot) — Figura 13</a:t>
            </a:r>
            <a:endParaRPr lang="en-US" sz="2100" dirty="0"/>
          </a:p>
        </p:txBody>
      </p:sp>
      <p:sp>
        <p:nvSpPr>
          <p:cNvPr id="5" name="Shape 2"/>
          <p:cNvSpPr/>
          <p:nvPr/>
        </p:nvSpPr>
        <p:spPr>
          <a:xfrm>
            <a:off x="5029200" y="749808"/>
            <a:ext cx="3840480" cy="1325880"/>
          </a:xfrm>
          <a:prstGeom prst="rect">
            <a:avLst/>
          </a:prstGeom>
          <a:solidFill>
            <a:srgbClr val="1E293B"/>
          </a:solidFill>
          <a:ln w="12700">
            <a:solidFill>
              <a:srgbClr val="1E293B"/>
            </a:solidFill>
            <a:prstDash val="solid"/>
          </a:ln>
        </p:spPr>
        <p:txBody>
          <a:bodyPr/>
          <a:lstStyle/>
          <a:p>
            <a:endParaRPr lang="es-CO"/>
          </a:p>
        </p:txBody>
      </p:sp>
      <p:sp>
        <p:nvSpPr>
          <p:cNvPr id="6" name="Text 3"/>
          <p:cNvSpPr/>
          <p:nvPr/>
        </p:nvSpPr>
        <p:spPr>
          <a:xfrm>
            <a:off x="5166360" y="804672"/>
            <a:ext cx="3611880" cy="1188720"/>
          </a:xfrm>
          <a:prstGeom prst="rect">
            <a:avLst/>
          </a:prstGeom>
          <a:noFill/>
          <a:ln/>
        </p:spPr>
        <p:txBody>
          <a:bodyPr wrap="square" rtlCol="0" anchor="ctr"/>
          <a:lstStyle/>
          <a:p>
            <a:pPr marL="0" indent="0">
              <a:buNone/>
            </a:pPr>
            <a:r>
              <a:rPr lang="en-US" sz="1100" dirty="0">
                <a:solidFill>
                  <a:srgbClr val="A8D8A8"/>
                </a:solidFill>
                <a:latin typeface="Consolas" pitchFamily="34" charset="0"/>
                <a:ea typeface="Consolas" pitchFamily="34" charset="-122"/>
                <a:cs typeface="Consolas" pitchFamily="34" charset="-120"/>
              </a:rPr>
              <a:t>sns.barplot(</a:t>
            </a:r>
            <a:endParaRPr lang="en-US" sz="1100" dirty="0"/>
          </a:p>
          <a:p>
            <a:pPr marL="0" indent="0">
              <a:buNone/>
            </a:pPr>
            <a:r>
              <a:rPr lang="en-US" sz="1100" dirty="0">
                <a:solidFill>
                  <a:srgbClr val="A8D8A8"/>
                </a:solidFill>
                <a:latin typeface="Consolas" pitchFamily="34" charset="0"/>
                <a:ea typeface="Consolas" pitchFamily="34" charset="-122"/>
                <a:cs typeface="Consolas" pitchFamily="34" charset="-120"/>
              </a:rPr>
              <a:t>  data=df,</a:t>
            </a:r>
            <a:endParaRPr lang="en-US" sz="1100" dirty="0"/>
          </a:p>
          <a:p>
            <a:pPr marL="0" indent="0">
              <a:buNone/>
            </a:pPr>
            <a:r>
              <a:rPr lang="en-US" sz="1100" dirty="0">
                <a:solidFill>
                  <a:srgbClr val="A8D8A8"/>
                </a:solidFill>
                <a:latin typeface="Consolas" pitchFamily="34" charset="0"/>
                <a:ea typeface="Consolas" pitchFamily="34" charset="-122"/>
                <a:cs typeface="Consolas" pitchFamily="34" charset="-120"/>
              </a:rPr>
              <a:t>  x='region',</a:t>
            </a:r>
            <a:endParaRPr lang="en-US" sz="1100" dirty="0"/>
          </a:p>
          <a:p>
            <a:pPr marL="0" indent="0">
              <a:buNone/>
            </a:pPr>
            <a:r>
              <a:rPr lang="en-US" sz="1100" dirty="0">
                <a:solidFill>
                  <a:srgbClr val="A8D8A8"/>
                </a:solidFill>
                <a:latin typeface="Consolas" pitchFamily="34" charset="0"/>
                <a:ea typeface="Consolas" pitchFamily="34" charset="-122"/>
                <a:cs typeface="Consolas" pitchFamily="34" charset="-120"/>
              </a:rPr>
              <a:t>  y='valor_seguro',</a:t>
            </a:r>
            <a:endParaRPr lang="en-US" sz="1100" dirty="0"/>
          </a:p>
          <a:p>
            <a:pPr marL="0" indent="0">
              <a:buNone/>
            </a:pPr>
            <a:r>
              <a:rPr lang="en-US" sz="1100" dirty="0">
                <a:solidFill>
                  <a:srgbClr val="A8D8A8"/>
                </a:solidFill>
                <a:latin typeface="Consolas" pitchFamily="34" charset="0"/>
                <a:ea typeface="Consolas" pitchFamily="34" charset="-122"/>
                <a:cs typeface="Consolas" pitchFamily="34" charset="-120"/>
              </a:rPr>
              <a:t>  hue='fumador')</a:t>
            </a:r>
            <a:endParaRPr lang="en-US" sz="1100" dirty="0"/>
          </a:p>
          <a:p>
            <a:pPr marL="0" indent="0">
              <a:buNone/>
            </a:pPr>
            <a:r>
              <a:rPr lang="en-US" sz="1100" dirty="0">
                <a:solidFill>
                  <a:srgbClr val="A8D8A8"/>
                </a:solidFill>
                <a:latin typeface="Consolas" pitchFamily="34" charset="0"/>
                <a:ea typeface="Consolas" pitchFamily="34" charset="-122"/>
                <a:cs typeface="Consolas" pitchFamily="34" charset="-120"/>
              </a:rPr>
              <a:t>plt.show()</a:t>
            </a:r>
            <a:endParaRPr lang="en-US" sz="1100" dirty="0"/>
          </a:p>
        </p:txBody>
      </p:sp>
      <p:sp>
        <p:nvSpPr>
          <p:cNvPr id="7" name="Shape 4"/>
          <p:cNvSpPr/>
          <p:nvPr/>
        </p:nvSpPr>
        <p:spPr>
          <a:xfrm>
            <a:off x="5029200" y="2212848"/>
            <a:ext cx="914400" cy="765302"/>
          </a:xfrm>
          <a:prstGeom prst="rect">
            <a:avLst/>
          </a:prstGeom>
          <a:solidFill>
            <a:srgbClr val="02C39A"/>
          </a:solidFill>
          <a:ln w="12700">
            <a:solidFill>
              <a:srgbClr val="E2EAF0"/>
            </a:solidFill>
            <a:prstDash val="solid"/>
          </a:ln>
        </p:spPr>
        <p:txBody>
          <a:bodyPr/>
          <a:lstStyle/>
          <a:p>
            <a:endParaRPr lang="es-CO"/>
          </a:p>
        </p:txBody>
      </p:sp>
      <p:sp>
        <p:nvSpPr>
          <p:cNvPr id="8" name="Text 5"/>
          <p:cNvSpPr/>
          <p:nvPr/>
        </p:nvSpPr>
        <p:spPr>
          <a:xfrm>
            <a:off x="5029200" y="2267712"/>
            <a:ext cx="914400" cy="274320"/>
          </a:xfrm>
          <a:prstGeom prst="rect">
            <a:avLst/>
          </a:prstGeom>
          <a:noFill/>
          <a:ln/>
        </p:spPr>
        <p:txBody>
          <a:bodyPr wrap="square" rtlCol="0" anchor="ctr"/>
          <a:lstStyle/>
          <a:p>
            <a:pPr marL="0" indent="0" algn="ctr">
              <a:buNone/>
            </a:pPr>
            <a:r>
              <a:rPr lang="en-US" sz="1300" b="1" dirty="0">
                <a:solidFill>
                  <a:srgbClr val="021E3F"/>
                </a:solidFill>
              </a:rPr>
              <a:t>1°</a:t>
            </a:r>
            <a:endParaRPr lang="en-US" sz="1300" dirty="0"/>
          </a:p>
        </p:txBody>
      </p:sp>
      <p:sp>
        <p:nvSpPr>
          <p:cNvPr id="9" name="Text 6"/>
          <p:cNvSpPr/>
          <p:nvPr/>
        </p:nvSpPr>
        <p:spPr>
          <a:xfrm>
            <a:off x="5001768" y="2542032"/>
            <a:ext cx="941832" cy="256032"/>
          </a:xfrm>
          <a:prstGeom prst="rect">
            <a:avLst/>
          </a:prstGeom>
          <a:noFill/>
          <a:ln/>
        </p:spPr>
        <p:txBody>
          <a:bodyPr wrap="square" rtlCol="0" anchor="ctr"/>
          <a:lstStyle/>
          <a:p>
            <a:pPr marL="0" indent="0" algn="ctr">
              <a:buNone/>
            </a:pPr>
            <a:r>
              <a:rPr lang="en-US" sz="1000" dirty="0">
                <a:solidFill>
                  <a:srgbClr val="021E3F"/>
                </a:solidFill>
              </a:rPr>
              <a:t>Cundinamarca</a:t>
            </a:r>
            <a:endParaRPr lang="en-US" sz="1000" dirty="0"/>
          </a:p>
        </p:txBody>
      </p:sp>
      <p:sp>
        <p:nvSpPr>
          <p:cNvPr id="11" name="Shape 8"/>
          <p:cNvSpPr/>
          <p:nvPr/>
        </p:nvSpPr>
        <p:spPr>
          <a:xfrm>
            <a:off x="6035040" y="2212848"/>
            <a:ext cx="914400" cy="765302"/>
          </a:xfrm>
          <a:prstGeom prst="rect">
            <a:avLst/>
          </a:prstGeom>
          <a:solidFill>
            <a:srgbClr val="9FD8DF"/>
          </a:solidFill>
          <a:ln w="12700">
            <a:solidFill>
              <a:srgbClr val="E2EAF0"/>
            </a:solidFill>
            <a:prstDash val="solid"/>
          </a:ln>
        </p:spPr>
        <p:txBody>
          <a:bodyPr/>
          <a:lstStyle/>
          <a:p>
            <a:endParaRPr lang="es-CO"/>
          </a:p>
        </p:txBody>
      </p:sp>
      <p:sp>
        <p:nvSpPr>
          <p:cNvPr id="12" name="Text 9"/>
          <p:cNvSpPr/>
          <p:nvPr/>
        </p:nvSpPr>
        <p:spPr>
          <a:xfrm>
            <a:off x="6035040" y="2267712"/>
            <a:ext cx="914400" cy="229591"/>
          </a:xfrm>
          <a:prstGeom prst="rect">
            <a:avLst/>
          </a:prstGeom>
          <a:noFill/>
          <a:ln/>
        </p:spPr>
        <p:txBody>
          <a:bodyPr wrap="square" rtlCol="0" anchor="ctr"/>
          <a:lstStyle/>
          <a:p>
            <a:pPr marL="0" indent="0" algn="ctr">
              <a:buNone/>
            </a:pPr>
            <a:r>
              <a:rPr lang="en-US" sz="1300" b="1" dirty="0">
                <a:solidFill>
                  <a:srgbClr val="021E3F"/>
                </a:solidFill>
              </a:rPr>
              <a:t>2°</a:t>
            </a:r>
            <a:endParaRPr lang="en-US" sz="1300" dirty="0"/>
          </a:p>
        </p:txBody>
      </p:sp>
      <p:sp>
        <p:nvSpPr>
          <p:cNvPr id="13" name="Text 10"/>
          <p:cNvSpPr/>
          <p:nvPr/>
        </p:nvSpPr>
        <p:spPr>
          <a:xfrm>
            <a:off x="6035040" y="2542032"/>
            <a:ext cx="914400" cy="214285"/>
          </a:xfrm>
          <a:prstGeom prst="rect">
            <a:avLst/>
          </a:prstGeom>
          <a:noFill/>
          <a:ln/>
        </p:spPr>
        <p:txBody>
          <a:bodyPr wrap="square" rtlCol="0" anchor="ctr"/>
          <a:lstStyle/>
          <a:p>
            <a:pPr marL="0" indent="0" algn="ctr">
              <a:buNone/>
            </a:pPr>
            <a:r>
              <a:rPr lang="en-US" sz="1000" dirty="0">
                <a:solidFill>
                  <a:srgbClr val="021E3F"/>
                </a:solidFill>
              </a:rPr>
              <a:t>Boyacá</a:t>
            </a:r>
            <a:endParaRPr lang="en-US" sz="1000" dirty="0"/>
          </a:p>
        </p:txBody>
      </p:sp>
      <p:sp>
        <p:nvSpPr>
          <p:cNvPr id="15" name="Shape 12"/>
          <p:cNvSpPr/>
          <p:nvPr/>
        </p:nvSpPr>
        <p:spPr>
          <a:xfrm>
            <a:off x="7040880" y="2212848"/>
            <a:ext cx="914400" cy="765302"/>
          </a:xfrm>
          <a:prstGeom prst="rect">
            <a:avLst/>
          </a:prstGeom>
          <a:solidFill>
            <a:srgbClr val="E2EAF0"/>
          </a:solidFill>
          <a:ln w="12700">
            <a:solidFill>
              <a:srgbClr val="E2EAF0"/>
            </a:solidFill>
            <a:prstDash val="solid"/>
          </a:ln>
        </p:spPr>
        <p:txBody>
          <a:bodyPr/>
          <a:lstStyle/>
          <a:p>
            <a:endParaRPr lang="es-CO"/>
          </a:p>
        </p:txBody>
      </p:sp>
      <p:sp>
        <p:nvSpPr>
          <p:cNvPr id="16" name="Text 13"/>
          <p:cNvSpPr/>
          <p:nvPr/>
        </p:nvSpPr>
        <p:spPr>
          <a:xfrm>
            <a:off x="7040880" y="2267712"/>
            <a:ext cx="914400" cy="229591"/>
          </a:xfrm>
          <a:prstGeom prst="rect">
            <a:avLst/>
          </a:prstGeom>
          <a:noFill/>
          <a:ln/>
        </p:spPr>
        <p:txBody>
          <a:bodyPr wrap="square" rtlCol="0" anchor="ctr"/>
          <a:lstStyle/>
          <a:p>
            <a:pPr marL="0" indent="0" algn="ctr">
              <a:buNone/>
            </a:pPr>
            <a:r>
              <a:rPr lang="en-US" sz="1300" b="1" dirty="0">
                <a:solidFill>
                  <a:srgbClr val="021E3F"/>
                </a:solidFill>
              </a:rPr>
              <a:t>3°</a:t>
            </a:r>
            <a:endParaRPr lang="en-US" sz="1300" dirty="0"/>
          </a:p>
        </p:txBody>
      </p:sp>
      <p:sp>
        <p:nvSpPr>
          <p:cNvPr id="17" name="Text 14"/>
          <p:cNvSpPr/>
          <p:nvPr/>
        </p:nvSpPr>
        <p:spPr>
          <a:xfrm>
            <a:off x="7040880" y="2542032"/>
            <a:ext cx="914400" cy="214285"/>
          </a:xfrm>
          <a:prstGeom prst="rect">
            <a:avLst/>
          </a:prstGeom>
          <a:noFill/>
          <a:ln/>
        </p:spPr>
        <p:txBody>
          <a:bodyPr wrap="square" rtlCol="0" anchor="ctr"/>
          <a:lstStyle/>
          <a:p>
            <a:pPr marL="0" indent="0" algn="ctr">
              <a:buNone/>
            </a:pPr>
            <a:r>
              <a:rPr lang="en-US" sz="1000" dirty="0">
                <a:solidFill>
                  <a:srgbClr val="021E3F"/>
                </a:solidFill>
              </a:rPr>
              <a:t>Antioquia</a:t>
            </a:r>
            <a:endParaRPr lang="en-US" sz="1000" dirty="0"/>
          </a:p>
        </p:txBody>
      </p:sp>
      <p:sp>
        <p:nvSpPr>
          <p:cNvPr id="19" name="Shape 16"/>
          <p:cNvSpPr/>
          <p:nvPr/>
        </p:nvSpPr>
        <p:spPr>
          <a:xfrm>
            <a:off x="8046720" y="2212848"/>
            <a:ext cx="914400" cy="765302"/>
          </a:xfrm>
          <a:prstGeom prst="rect">
            <a:avLst/>
          </a:prstGeom>
          <a:solidFill>
            <a:srgbClr val="E2EAF0"/>
          </a:solidFill>
          <a:ln w="12700">
            <a:solidFill>
              <a:srgbClr val="E2EAF0"/>
            </a:solidFill>
            <a:prstDash val="solid"/>
          </a:ln>
        </p:spPr>
        <p:txBody>
          <a:bodyPr/>
          <a:lstStyle/>
          <a:p>
            <a:endParaRPr lang="es-CO"/>
          </a:p>
        </p:txBody>
      </p:sp>
      <p:sp>
        <p:nvSpPr>
          <p:cNvPr id="20" name="Text 17"/>
          <p:cNvSpPr/>
          <p:nvPr/>
        </p:nvSpPr>
        <p:spPr>
          <a:xfrm>
            <a:off x="8046720" y="2267712"/>
            <a:ext cx="914400" cy="229591"/>
          </a:xfrm>
          <a:prstGeom prst="rect">
            <a:avLst/>
          </a:prstGeom>
          <a:noFill/>
          <a:ln/>
        </p:spPr>
        <p:txBody>
          <a:bodyPr wrap="square" rtlCol="0" anchor="ctr"/>
          <a:lstStyle/>
          <a:p>
            <a:pPr marL="0" indent="0" algn="ctr">
              <a:buNone/>
            </a:pPr>
            <a:r>
              <a:rPr lang="en-US" sz="1300" b="1" dirty="0">
                <a:solidFill>
                  <a:srgbClr val="021E3F"/>
                </a:solidFill>
              </a:rPr>
              <a:t>4°</a:t>
            </a:r>
            <a:endParaRPr lang="en-US" sz="1300" dirty="0"/>
          </a:p>
        </p:txBody>
      </p:sp>
      <p:sp>
        <p:nvSpPr>
          <p:cNvPr id="21" name="Text 18"/>
          <p:cNvSpPr/>
          <p:nvPr/>
        </p:nvSpPr>
        <p:spPr>
          <a:xfrm>
            <a:off x="8046720" y="2542032"/>
            <a:ext cx="914400" cy="214285"/>
          </a:xfrm>
          <a:prstGeom prst="rect">
            <a:avLst/>
          </a:prstGeom>
          <a:noFill/>
          <a:ln/>
        </p:spPr>
        <p:txBody>
          <a:bodyPr wrap="square" rtlCol="0" anchor="ctr"/>
          <a:lstStyle/>
          <a:p>
            <a:pPr marL="0" indent="0" algn="ctr">
              <a:buNone/>
            </a:pPr>
            <a:r>
              <a:rPr lang="en-US" sz="1000" dirty="0">
                <a:solidFill>
                  <a:srgbClr val="021E3F"/>
                </a:solidFill>
              </a:rPr>
              <a:t>Caribe</a:t>
            </a:r>
            <a:endParaRPr lang="en-US" sz="1000" dirty="0"/>
          </a:p>
        </p:txBody>
      </p:sp>
      <p:sp>
        <p:nvSpPr>
          <p:cNvPr id="23" name="Shape 20"/>
          <p:cNvSpPr/>
          <p:nvPr/>
        </p:nvSpPr>
        <p:spPr>
          <a:xfrm>
            <a:off x="5029200" y="3273552"/>
            <a:ext cx="3840480" cy="1005840"/>
          </a:xfrm>
          <a:prstGeom prst="rect">
            <a:avLst/>
          </a:prstGeom>
          <a:solidFill>
            <a:srgbClr val="FFFFFF"/>
          </a:solidFill>
          <a:ln w="12700">
            <a:solidFill>
              <a:srgbClr val="E2EAF0"/>
            </a:solidFill>
            <a:prstDash val="solid"/>
          </a:ln>
        </p:spPr>
        <p:txBody>
          <a:bodyPr/>
          <a:lstStyle/>
          <a:p>
            <a:endParaRPr lang="es-CO"/>
          </a:p>
        </p:txBody>
      </p:sp>
      <p:sp>
        <p:nvSpPr>
          <p:cNvPr id="24" name="Shape 21"/>
          <p:cNvSpPr/>
          <p:nvPr/>
        </p:nvSpPr>
        <p:spPr>
          <a:xfrm>
            <a:off x="5029200" y="3273552"/>
            <a:ext cx="64008" cy="1005840"/>
          </a:xfrm>
          <a:prstGeom prst="rect">
            <a:avLst/>
          </a:prstGeom>
          <a:solidFill>
            <a:srgbClr val="E24B4A"/>
          </a:solidFill>
          <a:ln w="12700">
            <a:solidFill>
              <a:srgbClr val="E24B4A"/>
            </a:solidFill>
            <a:prstDash val="solid"/>
          </a:ln>
        </p:spPr>
        <p:txBody>
          <a:bodyPr/>
          <a:lstStyle/>
          <a:p>
            <a:endParaRPr lang="es-CO"/>
          </a:p>
        </p:txBody>
      </p:sp>
      <p:sp>
        <p:nvSpPr>
          <p:cNvPr id="25" name="Text 22"/>
          <p:cNvSpPr/>
          <p:nvPr/>
        </p:nvSpPr>
        <p:spPr>
          <a:xfrm>
            <a:off x="5212080" y="3337560"/>
            <a:ext cx="3566160" cy="877824"/>
          </a:xfrm>
          <a:prstGeom prst="rect">
            <a:avLst/>
          </a:prstGeom>
          <a:noFill/>
          <a:ln/>
        </p:spPr>
        <p:txBody>
          <a:bodyPr wrap="square" rtlCol="0" anchor="ctr"/>
          <a:lstStyle/>
          <a:p>
            <a:pPr marL="0" indent="0">
              <a:buNone/>
            </a:pPr>
            <a:r>
              <a:rPr lang="en-US" sz="1050" dirty="0">
                <a:solidFill>
                  <a:srgbClr val="64748B"/>
                </a:solidFill>
              </a:rPr>
              <a:t>Responde P3: Cundinamarca lidera. </a:t>
            </a:r>
          </a:p>
          <a:p>
            <a:pPr marL="0" indent="0">
              <a:buNone/>
            </a:pPr>
            <a:r>
              <a:rPr lang="en-US" sz="1050" dirty="0">
                <a:solidFill>
                  <a:srgbClr val="64748B"/>
                </a:solidFill>
              </a:rPr>
              <a:t>En todas las regiones los fumadores (azul) pagan 3–4x más que no fumadores (</a:t>
            </a:r>
            <a:r>
              <a:rPr lang="en-US" sz="1050" dirty="0" err="1">
                <a:solidFill>
                  <a:srgbClr val="64748B"/>
                </a:solidFill>
              </a:rPr>
              <a:t>naranja</a:t>
            </a:r>
            <a:r>
              <a:rPr lang="en-US" sz="1050" dirty="0">
                <a:solidFill>
                  <a:srgbClr val="64748B"/>
                </a:solidFill>
              </a:rPr>
              <a:t>). Las barras de error muestran el intervalo de confianza del promedio.</a:t>
            </a:r>
            <a:endParaRPr lang="en-US" sz="1050" dirty="0"/>
          </a:p>
        </p:txBody>
      </p:sp>
      <p:pic>
        <p:nvPicPr>
          <p:cNvPr id="7170" name="Picture 2">
            <a:extLst>
              <a:ext uri="{FF2B5EF4-FFF2-40B4-BE49-F238E27FC236}">
                <a16:creationId xmlns:a16="http://schemas.microsoft.com/office/drawing/2014/main" id="{E8340A2C-A1D8-1097-8262-E60FBBE3F5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228" y="755396"/>
            <a:ext cx="4737100" cy="34744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21E3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txBody>
          <a:bodyPr/>
          <a:lstStyle/>
          <a:p>
            <a:endParaRPr lang="es-CO"/>
          </a:p>
        </p:txBody>
      </p:sp>
      <p:sp>
        <p:nvSpPr>
          <p:cNvPr id="3" name="Text 1"/>
          <p:cNvSpPr/>
          <p:nvPr/>
        </p:nvSpPr>
        <p:spPr>
          <a:xfrm>
            <a:off x="457200" y="182880"/>
            <a:ext cx="8229600" cy="502920"/>
          </a:xfrm>
          <a:prstGeom prst="rect">
            <a:avLst/>
          </a:prstGeom>
          <a:noFill/>
          <a:ln/>
        </p:spPr>
        <p:txBody>
          <a:bodyPr wrap="square" rtlCol="0" anchor="ctr"/>
          <a:lstStyle/>
          <a:p>
            <a:pPr marL="0" indent="0">
              <a:buNone/>
            </a:pPr>
            <a:r>
              <a:rPr lang="en-US" sz="3000" b="1" dirty="0">
                <a:solidFill>
                  <a:srgbClr val="FFFFFF"/>
                </a:solidFill>
              </a:rPr>
              <a:t>Conclusiones</a:t>
            </a:r>
            <a:endParaRPr lang="en-US" sz="3000" dirty="0"/>
          </a:p>
        </p:txBody>
      </p:sp>
      <p:sp>
        <p:nvSpPr>
          <p:cNvPr id="4" name="Shape 2"/>
          <p:cNvSpPr/>
          <p:nvPr/>
        </p:nvSpPr>
        <p:spPr>
          <a:xfrm>
            <a:off x="365760" y="868680"/>
            <a:ext cx="8412480" cy="621792"/>
          </a:xfrm>
          <a:prstGeom prst="rect">
            <a:avLst/>
          </a:prstGeom>
          <a:solidFill>
            <a:srgbClr val="0A2A4A"/>
          </a:solidFill>
          <a:ln w="12700">
            <a:solidFill>
              <a:srgbClr val="0A2A4A"/>
            </a:solidFill>
            <a:prstDash val="solid"/>
          </a:ln>
        </p:spPr>
        <p:txBody>
          <a:bodyPr/>
          <a:lstStyle/>
          <a:p>
            <a:endParaRPr lang="es-CO"/>
          </a:p>
        </p:txBody>
      </p:sp>
      <p:sp>
        <p:nvSpPr>
          <p:cNvPr id="5" name="Shape 3"/>
          <p:cNvSpPr/>
          <p:nvPr/>
        </p:nvSpPr>
        <p:spPr>
          <a:xfrm>
            <a:off x="365760" y="868680"/>
            <a:ext cx="64008" cy="621792"/>
          </a:xfrm>
          <a:prstGeom prst="rect">
            <a:avLst/>
          </a:prstGeom>
          <a:solidFill>
            <a:srgbClr val="02C39A"/>
          </a:solidFill>
          <a:ln w="12700">
            <a:solidFill>
              <a:srgbClr val="02C39A"/>
            </a:solidFill>
            <a:prstDash val="solid"/>
          </a:ln>
        </p:spPr>
        <p:txBody>
          <a:bodyPr/>
          <a:lstStyle/>
          <a:p>
            <a:endParaRPr lang="es-CO"/>
          </a:p>
        </p:txBody>
      </p:sp>
      <p:sp>
        <p:nvSpPr>
          <p:cNvPr id="6" name="Text 4"/>
          <p:cNvSpPr/>
          <p:nvPr/>
        </p:nvSpPr>
        <p:spPr>
          <a:xfrm>
            <a:off x="548640" y="905256"/>
            <a:ext cx="2377440" cy="548640"/>
          </a:xfrm>
          <a:prstGeom prst="rect">
            <a:avLst/>
          </a:prstGeom>
          <a:noFill/>
          <a:ln/>
        </p:spPr>
        <p:txBody>
          <a:bodyPr wrap="square" rtlCol="0" anchor="ctr"/>
          <a:lstStyle/>
          <a:p>
            <a:pPr marL="0" indent="0">
              <a:buNone/>
            </a:pPr>
            <a:r>
              <a:rPr lang="en-US" sz="1200" b="1" dirty="0">
                <a:solidFill>
                  <a:srgbClr val="02C39A"/>
                </a:solidFill>
              </a:rPr>
              <a:t>Gráfica Circular</a:t>
            </a:r>
            <a:endParaRPr lang="en-US" sz="1200" dirty="0"/>
          </a:p>
        </p:txBody>
      </p:sp>
      <p:sp>
        <p:nvSpPr>
          <p:cNvPr id="7" name="Text 5"/>
          <p:cNvSpPr/>
          <p:nvPr/>
        </p:nvSpPr>
        <p:spPr>
          <a:xfrm>
            <a:off x="3017520" y="905256"/>
            <a:ext cx="5577840" cy="548640"/>
          </a:xfrm>
          <a:prstGeom prst="rect">
            <a:avLst/>
          </a:prstGeom>
          <a:noFill/>
          <a:ln/>
        </p:spPr>
        <p:txBody>
          <a:bodyPr wrap="square" rtlCol="0" anchor="ctr"/>
          <a:lstStyle/>
          <a:p>
            <a:pPr marL="0" indent="0">
              <a:buNone/>
            </a:pPr>
            <a:r>
              <a:rPr lang="en-US" sz="1150" dirty="0">
                <a:solidFill>
                  <a:srgbClr val="B0C4D8"/>
                </a:solidFill>
              </a:rPr>
              <a:t>Comparar proporciones entre categorías (% de personas o % de dinero)</a:t>
            </a:r>
            <a:endParaRPr lang="en-US" sz="1150" dirty="0"/>
          </a:p>
        </p:txBody>
      </p:sp>
      <p:sp>
        <p:nvSpPr>
          <p:cNvPr id="8" name="Shape 6"/>
          <p:cNvSpPr/>
          <p:nvPr/>
        </p:nvSpPr>
        <p:spPr>
          <a:xfrm>
            <a:off x="365760" y="1581912"/>
            <a:ext cx="8412480" cy="621792"/>
          </a:xfrm>
          <a:prstGeom prst="rect">
            <a:avLst/>
          </a:prstGeom>
          <a:solidFill>
            <a:srgbClr val="0A2A4A"/>
          </a:solidFill>
          <a:ln w="12700">
            <a:solidFill>
              <a:srgbClr val="0A2A4A"/>
            </a:solidFill>
            <a:prstDash val="solid"/>
          </a:ln>
        </p:spPr>
        <p:txBody>
          <a:bodyPr/>
          <a:lstStyle/>
          <a:p>
            <a:endParaRPr lang="es-CO"/>
          </a:p>
        </p:txBody>
      </p:sp>
      <p:sp>
        <p:nvSpPr>
          <p:cNvPr id="9" name="Shape 7"/>
          <p:cNvSpPr/>
          <p:nvPr/>
        </p:nvSpPr>
        <p:spPr>
          <a:xfrm>
            <a:off x="365760" y="1581912"/>
            <a:ext cx="64008" cy="621792"/>
          </a:xfrm>
          <a:prstGeom prst="rect">
            <a:avLst/>
          </a:prstGeom>
          <a:solidFill>
            <a:srgbClr val="02C39A"/>
          </a:solidFill>
          <a:ln w="12700">
            <a:solidFill>
              <a:srgbClr val="02C39A"/>
            </a:solidFill>
            <a:prstDash val="solid"/>
          </a:ln>
        </p:spPr>
        <p:txBody>
          <a:bodyPr/>
          <a:lstStyle/>
          <a:p>
            <a:endParaRPr lang="es-CO"/>
          </a:p>
        </p:txBody>
      </p:sp>
      <p:sp>
        <p:nvSpPr>
          <p:cNvPr id="10" name="Text 8"/>
          <p:cNvSpPr/>
          <p:nvPr/>
        </p:nvSpPr>
        <p:spPr>
          <a:xfrm>
            <a:off x="548640" y="1618488"/>
            <a:ext cx="2377440" cy="548640"/>
          </a:xfrm>
          <a:prstGeom prst="rect">
            <a:avLst/>
          </a:prstGeom>
          <a:noFill/>
          <a:ln/>
        </p:spPr>
        <p:txBody>
          <a:bodyPr wrap="square" rtlCol="0" anchor="ctr"/>
          <a:lstStyle/>
          <a:p>
            <a:pPr marL="0" indent="0">
              <a:buNone/>
            </a:pPr>
            <a:r>
              <a:rPr lang="en-US" sz="1200" b="1" dirty="0">
                <a:solidFill>
                  <a:srgbClr val="02C39A"/>
                </a:solidFill>
              </a:rPr>
              <a:t>Boxplot</a:t>
            </a:r>
            <a:endParaRPr lang="en-US" sz="1200" dirty="0"/>
          </a:p>
        </p:txBody>
      </p:sp>
      <p:sp>
        <p:nvSpPr>
          <p:cNvPr id="11" name="Text 9"/>
          <p:cNvSpPr/>
          <p:nvPr/>
        </p:nvSpPr>
        <p:spPr>
          <a:xfrm>
            <a:off x="3017520" y="1618488"/>
            <a:ext cx="5577840" cy="548640"/>
          </a:xfrm>
          <a:prstGeom prst="rect">
            <a:avLst/>
          </a:prstGeom>
          <a:noFill/>
          <a:ln/>
        </p:spPr>
        <p:txBody>
          <a:bodyPr wrap="square" rtlCol="0" anchor="ctr"/>
          <a:lstStyle/>
          <a:p>
            <a:pPr marL="0" indent="0">
              <a:buNone/>
            </a:pPr>
            <a:r>
              <a:rPr lang="en-US" sz="1150" dirty="0">
                <a:solidFill>
                  <a:srgbClr val="B0C4D8"/>
                </a:solidFill>
              </a:rPr>
              <a:t>Ver la distribución completa y detectar diferencias entre grupos</a:t>
            </a:r>
            <a:endParaRPr lang="en-US" sz="1150" dirty="0"/>
          </a:p>
        </p:txBody>
      </p:sp>
      <p:sp>
        <p:nvSpPr>
          <p:cNvPr id="12" name="Shape 10"/>
          <p:cNvSpPr/>
          <p:nvPr/>
        </p:nvSpPr>
        <p:spPr>
          <a:xfrm>
            <a:off x="365760" y="2295144"/>
            <a:ext cx="8412480" cy="621792"/>
          </a:xfrm>
          <a:prstGeom prst="rect">
            <a:avLst/>
          </a:prstGeom>
          <a:solidFill>
            <a:srgbClr val="0A2A4A"/>
          </a:solidFill>
          <a:ln w="12700">
            <a:solidFill>
              <a:srgbClr val="0A2A4A"/>
            </a:solidFill>
            <a:prstDash val="solid"/>
          </a:ln>
        </p:spPr>
        <p:txBody>
          <a:bodyPr/>
          <a:lstStyle/>
          <a:p>
            <a:endParaRPr lang="es-CO"/>
          </a:p>
        </p:txBody>
      </p:sp>
      <p:sp>
        <p:nvSpPr>
          <p:cNvPr id="13" name="Shape 11"/>
          <p:cNvSpPr/>
          <p:nvPr/>
        </p:nvSpPr>
        <p:spPr>
          <a:xfrm>
            <a:off x="365760" y="2295144"/>
            <a:ext cx="64008" cy="621792"/>
          </a:xfrm>
          <a:prstGeom prst="rect">
            <a:avLst/>
          </a:prstGeom>
          <a:solidFill>
            <a:srgbClr val="02C39A"/>
          </a:solidFill>
          <a:ln w="12700">
            <a:solidFill>
              <a:srgbClr val="02C39A"/>
            </a:solidFill>
            <a:prstDash val="solid"/>
          </a:ln>
        </p:spPr>
        <p:txBody>
          <a:bodyPr/>
          <a:lstStyle/>
          <a:p>
            <a:endParaRPr lang="es-CO"/>
          </a:p>
        </p:txBody>
      </p:sp>
      <p:sp>
        <p:nvSpPr>
          <p:cNvPr id="14" name="Text 12"/>
          <p:cNvSpPr/>
          <p:nvPr/>
        </p:nvSpPr>
        <p:spPr>
          <a:xfrm>
            <a:off x="548640" y="2331720"/>
            <a:ext cx="2377440" cy="548640"/>
          </a:xfrm>
          <a:prstGeom prst="rect">
            <a:avLst/>
          </a:prstGeom>
          <a:noFill/>
          <a:ln/>
        </p:spPr>
        <p:txBody>
          <a:bodyPr wrap="square" rtlCol="0" anchor="ctr"/>
          <a:lstStyle/>
          <a:p>
            <a:pPr marL="0" indent="0">
              <a:buNone/>
            </a:pPr>
            <a:r>
              <a:rPr lang="en-US" sz="1200" b="1" dirty="0">
                <a:solidFill>
                  <a:srgbClr val="02C39A"/>
                </a:solidFill>
              </a:rPr>
              <a:t>Heatmap</a:t>
            </a:r>
            <a:endParaRPr lang="en-US" sz="1200" dirty="0"/>
          </a:p>
        </p:txBody>
      </p:sp>
      <p:sp>
        <p:nvSpPr>
          <p:cNvPr id="15" name="Text 13"/>
          <p:cNvSpPr/>
          <p:nvPr/>
        </p:nvSpPr>
        <p:spPr>
          <a:xfrm>
            <a:off x="3017520" y="2331720"/>
            <a:ext cx="5577840" cy="548640"/>
          </a:xfrm>
          <a:prstGeom prst="rect">
            <a:avLst/>
          </a:prstGeom>
          <a:noFill/>
          <a:ln/>
        </p:spPr>
        <p:txBody>
          <a:bodyPr wrap="square" rtlCol="0" anchor="ctr"/>
          <a:lstStyle/>
          <a:p>
            <a:pPr marL="0" indent="0">
              <a:buNone/>
            </a:pPr>
            <a:r>
              <a:rPr lang="en-US" sz="1150" dirty="0">
                <a:solidFill>
                  <a:srgbClr val="B0C4D8"/>
                </a:solidFill>
              </a:rPr>
              <a:t>Medir correlación matemática entre variables numéricas</a:t>
            </a:r>
            <a:endParaRPr lang="en-US" sz="1150" dirty="0"/>
          </a:p>
        </p:txBody>
      </p:sp>
      <p:sp>
        <p:nvSpPr>
          <p:cNvPr id="16" name="Shape 14"/>
          <p:cNvSpPr/>
          <p:nvPr/>
        </p:nvSpPr>
        <p:spPr>
          <a:xfrm>
            <a:off x="365760" y="3008376"/>
            <a:ext cx="8412480" cy="621792"/>
          </a:xfrm>
          <a:prstGeom prst="rect">
            <a:avLst/>
          </a:prstGeom>
          <a:solidFill>
            <a:srgbClr val="0A2A4A"/>
          </a:solidFill>
          <a:ln w="12700">
            <a:solidFill>
              <a:srgbClr val="0A2A4A"/>
            </a:solidFill>
            <a:prstDash val="solid"/>
          </a:ln>
        </p:spPr>
        <p:txBody>
          <a:bodyPr/>
          <a:lstStyle/>
          <a:p>
            <a:endParaRPr lang="es-CO"/>
          </a:p>
        </p:txBody>
      </p:sp>
      <p:sp>
        <p:nvSpPr>
          <p:cNvPr id="17" name="Shape 15"/>
          <p:cNvSpPr/>
          <p:nvPr/>
        </p:nvSpPr>
        <p:spPr>
          <a:xfrm>
            <a:off x="365760" y="3008376"/>
            <a:ext cx="64008" cy="621792"/>
          </a:xfrm>
          <a:prstGeom prst="rect">
            <a:avLst/>
          </a:prstGeom>
          <a:solidFill>
            <a:srgbClr val="02C39A"/>
          </a:solidFill>
          <a:ln w="12700">
            <a:solidFill>
              <a:srgbClr val="02C39A"/>
            </a:solidFill>
            <a:prstDash val="solid"/>
          </a:ln>
        </p:spPr>
        <p:txBody>
          <a:bodyPr/>
          <a:lstStyle/>
          <a:p>
            <a:endParaRPr lang="es-CO"/>
          </a:p>
        </p:txBody>
      </p:sp>
      <p:sp>
        <p:nvSpPr>
          <p:cNvPr id="18" name="Text 16"/>
          <p:cNvSpPr/>
          <p:nvPr/>
        </p:nvSpPr>
        <p:spPr>
          <a:xfrm>
            <a:off x="548640" y="3044952"/>
            <a:ext cx="2377440" cy="548640"/>
          </a:xfrm>
          <a:prstGeom prst="rect">
            <a:avLst/>
          </a:prstGeom>
          <a:noFill/>
          <a:ln/>
        </p:spPr>
        <p:txBody>
          <a:bodyPr wrap="square" rtlCol="0" anchor="ctr"/>
          <a:lstStyle/>
          <a:p>
            <a:pPr marL="0" indent="0">
              <a:buNone/>
            </a:pPr>
            <a:r>
              <a:rPr lang="en-US" sz="1200" b="1" dirty="0">
                <a:solidFill>
                  <a:srgbClr val="02C39A"/>
                </a:solidFill>
              </a:rPr>
              <a:t>Scatter (relplot)</a:t>
            </a:r>
            <a:endParaRPr lang="en-US" sz="1200" dirty="0"/>
          </a:p>
        </p:txBody>
      </p:sp>
      <p:sp>
        <p:nvSpPr>
          <p:cNvPr id="19" name="Text 17"/>
          <p:cNvSpPr/>
          <p:nvPr/>
        </p:nvSpPr>
        <p:spPr>
          <a:xfrm>
            <a:off x="3017520" y="3044952"/>
            <a:ext cx="5577840" cy="548640"/>
          </a:xfrm>
          <a:prstGeom prst="rect">
            <a:avLst/>
          </a:prstGeom>
          <a:noFill/>
          <a:ln/>
        </p:spPr>
        <p:txBody>
          <a:bodyPr wrap="square" rtlCol="0" anchor="ctr"/>
          <a:lstStyle/>
          <a:p>
            <a:pPr marL="0" indent="0">
              <a:buNone/>
            </a:pPr>
            <a:r>
              <a:rPr lang="en-US" sz="1150" dirty="0">
                <a:solidFill>
                  <a:srgbClr val="B0C4D8"/>
                </a:solidFill>
              </a:rPr>
              <a:t>Explorar relaciones entre 3 variables simultáneamente con color</a:t>
            </a:r>
            <a:endParaRPr lang="en-US" sz="1150" dirty="0"/>
          </a:p>
        </p:txBody>
      </p:sp>
      <p:sp>
        <p:nvSpPr>
          <p:cNvPr id="20" name="Shape 18"/>
          <p:cNvSpPr/>
          <p:nvPr/>
        </p:nvSpPr>
        <p:spPr>
          <a:xfrm>
            <a:off x="365760" y="3721608"/>
            <a:ext cx="8412480" cy="621792"/>
          </a:xfrm>
          <a:prstGeom prst="rect">
            <a:avLst/>
          </a:prstGeom>
          <a:solidFill>
            <a:srgbClr val="0A2A4A"/>
          </a:solidFill>
          <a:ln w="12700">
            <a:solidFill>
              <a:srgbClr val="0A2A4A"/>
            </a:solidFill>
            <a:prstDash val="solid"/>
          </a:ln>
        </p:spPr>
        <p:txBody>
          <a:bodyPr/>
          <a:lstStyle/>
          <a:p>
            <a:endParaRPr lang="es-CO"/>
          </a:p>
        </p:txBody>
      </p:sp>
      <p:sp>
        <p:nvSpPr>
          <p:cNvPr id="21" name="Shape 19"/>
          <p:cNvSpPr/>
          <p:nvPr/>
        </p:nvSpPr>
        <p:spPr>
          <a:xfrm>
            <a:off x="365760" y="3721608"/>
            <a:ext cx="64008" cy="621792"/>
          </a:xfrm>
          <a:prstGeom prst="rect">
            <a:avLst/>
          </a:prstGeom>
          <a:solidFill>
            <a:srgbClr val="02C39A"/>
          </a:solidFill>
          <a:ln w="12700">
            <a:solidFill>
              <a:srgbClr val="02C39A"/>
            </a:solidFill>
            <a:prstDash val="solid"/>
          </a:ln>
        </p:spPr>
        <p:txBody>
          <a:bodyPr/>
          <a:lstStyle/>
          <a:p>
            <a:endParaRPr lang="es-CO"/>
          </a:p>
        </p:txBody>
      </p:sp>
      <p:sp>
        <p:nvSpPr>
          <p:cNvPr id="22" name="Text 20"/>
          <p:cNvSpPr/>
          <p:nvPr/>
        </p:nvSpPr>
        <p:spPr>
          <a:xfrm>
            <a:off x="548640" y="3758184"/>
            <a:ext cx="2377440" cy="548640"/>
          </a:xfrm>
          <a:prstGeom prst="rect">
            <a:avLst/>
          </a:prstGeom>
          <a:noFill/>
          <a:ln/>
        </p:spPr>
        <p:txBody>
          <a:bodyPr wrap="square" rtlCol="0" anchor="ctr"/>
          <a:lstStyle/>
          <a:p>
            <a:pPr marL="0" indent="0">
              <a:buNone/>
            </a:pPr>
            <a:r>
              <a:rPr lang="en-US" sz="1200" b="1" dirty="0">
                <a:solidFill>
                  <a:srgbClr val="02C39A"/>
                </a:solidFill>
              </a:rPr>
              <a:t>Barplot agrupado</a:t>
            </a:r>
            <a:endParaRPr lang="en-US" sz="1200" dirty="0"/>
          </a:p>
        </p:txBody>
      </p:sp>
      <p:sp>
        <p:nvSpPr>
          <p:cNvPr id="23" name="Text 21"/>
          <p:cNvSpPr/>
          <p:nvPr/>
        </p:nvSpPr>
        <p:spPr>
          <a:xfrm>
            <a:off x="3017520" y="3758184"/>
            <a:ext cx="5577840" cy="548640"/>
          </a:xfrm>
          <a:prstGeom prst="rect">
            <a:avLst/>
          </a:prstGeom>
          <a:noFill/>
          <a:ln/>
        </p:spPr>
        <p:txBody>
          <a:bodyPr wrap="square" rtlCol="0" anchor="ctr"/>
          <a:lstStyle/>
          <a:p>
            <a:pPr marL="0" indent="0">
              <a:buNone/>
            </a:pPr>
            <a:r>
              <a:rPr lang="en-US" sz="1150" dirty="0">
                <a:solidFill>
                  <a:srgbClr val="B0C4D8"/>
                </a:solidFill>
              </a:rPr>
              <a:t>Comparar promedios entre categorías con una segunda variable de agrupación</a:t>
            </a:r>
            <a:endParaRPr lang="en-US" sz="1150" dirty="0"/>
          </a:p>
        </p:txBody>
      </p:sp>
      <p:sp>
        <p:nvSpPr>
          <p:cNvPr id="24" name="Shape 22"/>
          <p:cNvSpPr/>
          <p:nvPr/>
        </p:nvSpPr>
        <p:spPr>
          <a:xfrm>
            <a:off x="365760" y="4526280"/>
            <a:ext cx="8412480" cy="457200"/>
          </a:xfrm>
          <a:prstGeom prst="rect">
            <a:avLst/>
          </a:prstGeom>
          <a:solidFill>
            <a:srgbClr val="028090"/>
          </a:solidFill>
          <a:ln w="12700">
            <a:solidFill>
              <a:srgbClr val="028090"/>
            </a:solidFill>
            <a:prstDash val="solid"/>
          </a:ln>
        </p:spPr>
        <p:txBody>
          <a:bodyPr/>
          <a:lstStyle/>
          <a:p>
            <a:endParaRPr lang="es-CO"/>
          </a:p>
        </p:txBody>
      </p:sp>
      <p:sp>
        <p:nvSpPr>
          <p:cNvPr id="25" name="Text 23"/>
          <p:cNvSpPr/>
          <p:nvPr/>
        </p:nvSpPr>
        <p:spPr>
          <a:xfrm>
            <a:off x="457200" y="4544568"/>
            <a:ext cx="8229600" cy="420624"/>
          </a:xfrm>
          <a:prstGeom prst="rect">
            <a:avLst/>
          </a:prstGeom>
          <a:noFill/>
          <a:ln/>
        </p:spPr>
        <p:txBody>
          <a:bodyPr wrap="square" rtlCol="0" anchor="ctr"/>
          <a:lstStyle/>
          <a:p>
            <a:pPr marL="0" indent="0" algn="ctr">
              <a:buNone/>
            </a:pPr>
            <a:r>
              <a:rPr lang="en-US" sz="1250" b="1" dirty="0">
                <a:solidFill>
                  <a:srgbClr val="FFFFFF"/>
                </a:solidFill>
              </a:rPr>
              <a:t>Perfil del cliente ideal: fumador · edad avanzada · IMC alto · ubicado en Cundinamarca</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1191</Words>
  <Application>Microsoft Office PowerPoint</Application>
  <PresentationFormat>Presentación en pantalla (16:9)</PresentationFormat>
  <Paragraphs>160</Paragraphs>
  <Slides>11</Slides>
  <Notes>11</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11</vt:i4>
      </vt:variant>
    </vt:vector>
  </HeadingPairs>
  <TitlesOfParts>
    <vt:vector size="14" baseType="lpstr">
      <vt:lpstr>Arial</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Tipos de Gráficos y su Función en el Análisis de Datos</dc:title>
  <dc:subject>PptxGenJS Presentation</dc:subject>
  <dc:creator>PptxGenJS</dc:creator>
  <cp:lastModifiedBy>juan pablo lopez rodriguez</cp:lastModifiedBy>
  <cp:revision>2</cp:revision>
  <dcterms:created xsi:type="dcterms:W3CDTF">2026-05-04T22:11:30Z</dcterms:created>
  <dcterms:modified xsi:type="dcterms:W3CDTF">2026-05-04T22:35:58Z</dcterms:modified>
</cp:coreProperties>
</file>